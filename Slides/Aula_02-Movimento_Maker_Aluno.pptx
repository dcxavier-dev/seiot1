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media/image1.jpeg" ContentType="image/jpeg"/>
  <Override PartName="/ppt/media/image3.png" ContentType="image/png"/>
  <Override PartName="/ppt/media/image2.png" ContentType="image/png"/>
  <Override PartName="/ppt/media/image4.png" ContentType="image/png"/>
  <Override PartName="/ppt/media/image5.jpeg" ContentType="image/jpeg"/>
  <Override PartName="/ppt/media/image6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mover o slide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6B2FEB3-AA24-48D7-9F26-AC54A7F04104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B7592CA-9D5A-49AA-97CB-6B36DDA2BC3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CFEB188-6FEF-42D1-9B12-84CA0383409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8438EC1-F335-4374-9828-C713E53858E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0E132B8-9D8A-424C-BDA1-6D81E41E12F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2ED032D-50D4-4BD9-9CF3-34CC4D6CEEE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81D8AA2-F85D-4F79-9FBC-BDCF193D4E1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E3D91C6-2326-40C4-A60E-7F51C440BD9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563DE67-A089-4A64-BBD2-D336CCE4BE6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Text 0"/>
          <p:cNvSpPr/>
          <p:nvPr/>
        </p:nvSpPr>
        <p:spPr>
          <a:xfrm>
            <a:off x="7376760" y="285840"/>
            <a:ext cx="148068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730" strike="noStrike" u="none">
                <a:solidFill>
                  <a:srgbClr val="ffd700"/>
                </a:solidFill>
                <a:effectLst/>
                <a:uFillTx/>
                <a:latin typeface="Calibri"/>
              </a:rPr>
              <a:t>PROJECT_ID: MAKER_02</a:t>
            </a:r>
            <a:endParaRPr b="0" lang="pt-BR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730" strike="noStrike" u="none">
                <a:solidFill>
                  <a:srgbClr val="ffd700"/>
                </a:solidFill>
                <a:effectLst/>
                <a:uFillTx/>
                <a:latin typeface="Calibri"/>
              </a:rPr>
              <a:t> VERSION: 1.0.4</a:t>
            </a:r>
            <a:endParaRPr b="0" lang="pt-BR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730" strike="noStrike" u="none">
                <a:solidFill>
                  <a:srgbClr val="ffd700"/>
                </a:solidFill>
                <a:effectLst/>
                <a:uFillTx/>
                <a:latin typeface="Calibri"/>
              </a:rPr>
              <a:t> MODULE: CULTURE_TINKERING</a:t>
            </a:r>
            <a:endParaRPr b="0" lang="pt-BR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1"/>
          <p:cNvSpPr/>
          <p:nvPr/>
        </p:nvSpPr>
        <p:spPr>
          <a:xfrm>
            <a:off x="1000080" y="728280"/>
            <a:ext cx="7143120" cy="3686400"/>
          </a:xfrm>
          <a:prstGeom prst="rect">
            <a:avLst/>
          </a:prstGeom>
          <a:solidFill>
            <a:srgbClr val="333333">
              <a:alpha val="80000"/>
            </a:srgbClr>
          </a:solidFill>
          <a:ln w="82296">
            <a:solidFill>
              <a:srgbClr val="ffd70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2"/>
          <p:cNvSpPr/>
          <p:nvPr/>
        </p:nvSpPr>
        <p:spPr>
          <a:xfrm>
            <a:off x="1428840" y="1242360"/>
            <a:ext cx="628596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600"/>
              </a:lnSpc>
              <a:tabLst>
                <a:tab algn="l" pos="0"/>
              </a:tabLst>
            </a:pPr>
            <a:r>
              <a:rPr b="1" lang="en-US" sz="3290" spc="-3" strike="noStrike" u="none">
                <a:solidFill>
                  <a:srgbClr val="ffd700"/>
                </a:solidFill>
                <a:effectLst/>
                <a:uFillTx/>
                <a:latin typeface="Calibri"/>
              </a:rPr>
              <a:t>Movimento Maker, Tinkering e a Cultura do "Fazer"</a:t>
            </a:r>
            <a:endParaRPr b="0" lang="pt-BR" sz="32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1428840" y="2828520"/>
            <a:ext cx="628596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22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Exploração, Inovação e Prototipagem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1714680" y="3283920"/>
            <a:ext cx="5714280" cy="61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939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Uma imersão na filosofia do "fazer", explorando as origens do movimento maker, a essência do tinkering e o impacto transformador dos espaços colaborativos na educação e na inovação tecnológica.</a:t>
            </a:r>
            <a:endParaRPr b="0" lang="pt-BR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Text 0"/>
          <p:cNvSpPr/>
          <p:nvPr/>
        </p:nvSpPr>
        <p:spPr>
          <a:xfrm>
            <a:off x="2732760" y="428760"/>
            <a:ext cx="4447080" cy="49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8496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ffd700"/>
                </a:solidFill>
                <a:effectLst/>
                <a:uFillTx/>
                <a:latin typeface="Calibri"/>
              </a:rPr>
              <a:t>Do DIY à Revolução Digital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1"/>
          <p:cNvSpPr/>
          <p:nvPr/>
        </p:nvSpPr>
        <p:spPr>
          <a:xfrm>
            <a:off x="428760" y="1280520"/>
            <a:ext cx="3999960" cy="3433680"/>
          </a:xfrm>
          <a:prstGeom prst="rect">
            <a:avLst/>
          </a:prstGeom>
          <a:solidFill>
            <a:srgbClr val="333333">
              <a:alpha val="85000"/>
            </a:srgbClr>
          </a:solidFill>
          <a:ln w="82296">
            <a:solidFill>
              <a:srgbClr val="ffd70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2"/>
          <p:cNvSpPr/>
          <p:nvPr/>
        </p:nvSpPr>
        <p:spPr>
          <a:xfrm>
            <a:off x="714240" y="1566360"/>
            <a:ext cx="279180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d700"/>
                </a:solidFill>
                <a:effectLst/>
                <a:uFillTx/>
                <a:latin typeface="Calibri"/>
              </a:rPr>
              <a:t>As Raízes no DIY(Faça você mesmo)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3"/>
          <p:cNvSpPr/>
          <p:nvPr/>
        </p:nvSpPr>
        <p:spPr>
          <a:xfrm>
            <a:off x="714240" y="1982520"/>
            <a:ext cx="3342600" cy="81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algn="just" defTabSz="914400">
              <a:lnSpc>
                <a:spcPts val="1599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 Movimento Maker nasce da cultura </a:t>
            </a: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DIY (Do It Yourself)</a:t>
            </a: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, valorizando a autonomia, a criação manual e a resolução independente de problemas.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4"/>
          <p:cNvSpPr/>
          <p:nvPr/>
        </p:nvSpPr>
        <p:spPr>
          <a:xfrm>
            <a:off x="714240" y="2922480"/>
            <a:ext cx="3342600" cy="81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algn="just" defTabSz="914400">
              <a:lnSpc>
                <a:spcPts val="1599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É uma cultura que incentiva a inovação e a experimentação, transformando consumidores passivos em criadores ativos.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5"/>
          <p:cNvSpPr/>
          <p:nvPr/>
        </p:nvSpPr>
        <p:spPr>
          <a:xfrm>
            <a:off x="714240" y="4172040"/>
            <a:ext cx="334260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0960" bIns="-612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730" strike="noStrike" u="none">
                <a:solidFill>
                  <a:srgbClr val="ffd700"/>
                </a:solidFill>
                <a:effectLst/>
                <a:uFillTx/>
                <a:latin typeface="Calibri"/>
              </a:rPr>
              <a:t>// ORIGINS: AUTONOMY_CRAFT</a:t>
            </a:r>
            <a:endParaRPr b="0" lang="pt-BR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6"/>
          <p:cNvSpPr/>
          <p:nvPr/>
        </p:nvSpPr>
        <p:spPr>
          <a:xfrm>
            <a:off x="4629240" y="1280520"/>
            <a:ext cx="4085640" cy="3433680"/>
          </a:xfrm>
          <a:prstGeom prst="rect">
            <a:avLst/>
          </a:prstGeom>
          <a:solidFill>
            <a:srgbClr val="333333">
              <a:alpha val="85000"/>
            </a:srgbClr>
          </a:solidFill>
          <a:ln w="82296">
            <a:solidFill>
              <a:srgbClr val="ffd70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7"/>
          <p:cNvSpPr/>
          <p:nvPr/>
        </p:nvSpPr>
        <p:spPr>
          <a:xfrm>
            <a:off x="5000760" y="1566360"/>
            <a:ext cx="152496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d700"/>
                </a:solidFill>
                <a:effectLst/>
                <a:uFillTx/>
                <a:latin typeface="Calibri"/>
              </a:rPr>
              <a:t>A Revolução Digital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8"/>
          <p:cNvSpPr/>
          <p:nvPr/>
        </p:nvSpPr>
        <p:spPr>
          <a:xfrm>
            <a:off x="5000760" y="1982520"/>
            <a:ext cx="3428280" cy="81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algn="just" defTabSz="914400">
              <a:lnSpc>
                <a:spcPts val="1599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 popularização de ferramentas como </a:t>
            </a: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impressoras 3D</a:t>
            </a: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, </a:t>
            </a: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cortadoras a laser</a:t>
            </a: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e plataformas de compartilhamento global acelerou essa transformação.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9"/>
          <p:cNvSpPr/>
          <p:nvPr/>
        </p:nvSpPr>
        <p:spPr>
          <a:xfrm>
            <a:off x="5000760" y="2958480"/>
            <a:ext cx="3428280" cy="6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algn="just" defTabSz="914400">
              <a:lnSpc>
                <a:spcPts val="1599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 tecnologia digital permitiu que projetos complexos fossem prototipados de forma rápida, barata e colaborativa.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0"/>
          <p:cNvSpPr/>
          <p:nvPr/>
        </p:nvSpPr>
        <p:spPr>
          <a:xfrm>
            <a:off x="5000760" y="4172040"/>
            <a:ext cx="342828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0960" bIns="-612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730" strike="noStrike" u="none">
                <a:solidFill>
                  <a:srgbClr val="ffd700"/>
                </a:solidFill>
                <a:effectLst/>
                <a:uFillTx/>
                <a:latin typeface="Calibri"/>
              </a:rPr>
              <a:t>// TOOLS: DIGITAL_FABRICATION_v2.0</a:t>
            </a:r>
            <a:endParaRPr b="0" lang="pt-BR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Text 0"/>
          <p:cNvSpPr/>
          <p:nvPr/>
        </p:nvSpPr>
        <p:spPr>
          <a:xfrm>
            <a:off x="428760" y="428760"/>
            <a:ext cx="8286120" cy="49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84960" anchor="t" anchorCtr="1">
            <a:spAutoFit/>
          </a:bodyPr>
          <a:p>
            <a:pPr algn="ctr" defTabSz="914400">
              <a:lnSpc>
                <a:spcPts val="32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ffd700"/>
                </a:solidFill>
                <a:effectLst/>
                <a:uFillTx/>
                <a:latin typeface="Calibri"/>
              </a:rPr>
              <a:t>Filosofia Tinkering: O Aprendizado pela Prática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"/>
          <p:cNvSpPr/>
          <p:nvPr/>
        </p:nvSpPr>
        <p:spPr>
          <a:xfrm>
            <a:off x="428760" y="1746720"/>
            <a:ext cx="3999960" cy="2967480"/>
          </a:xfrm>
          <a:prstGeom prst="rect">
            <a:avLst/>
          </a:prstGeom>
          <a:solidFill>
            <a:srgbClr val="333333">
              <a:alpha val="85000"/>
            </a:srgbClr>
          </a:solidFill>
          <a:ln w="82296">
            <a:solidFill>
              <a:srgbClr val="ffd70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2"/>
          <p:cNvSpPr/>
          <p:nvPr/>
        </p:nvSpPr>
        <p:spPr>
          <a:xfrm>
            <a:off x="714240" y="2032560"/>
            <a:ext cx="184536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d700"/>
                </a:solidFill>
                <a:effectLst/>
                <a:uFillTx/>
                <a:latin typeface="Calibri"/>
              </a:rPr>
              <a:t>A Essência do Tinkering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3"/>
          <p:cNvSpPr/>
          <p:nvPr/>
        </p:nvSpPr>
        <p:spPr>
          <a:xfrm>
            <a:off x="714240" y="2448360"/>
            <a:ext cx="3342600" cy="81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algn="just" defTabSz="914400">
              <a:lnSpc>
                <a:spcPts val="1599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Tinkering</a:t>
            </a: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é uma abordagem que enfatiza a experimentação e a resolução de problemas através da interação prática com materiais e ferramentas.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4"/>
          <p:cNvSpPr/>
          <p:nvPr/>
        </p:nvSpPr>
        <p:spPr>
          <a:xfrm>
            <a:off x="714240" y="3420000"/>
            <a:ext cx="3342600" cy="81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algn="just" defTabSz="914400">
              <a:lnSpc>
                <a:spcPts val="1599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Não se trata apenas de construir algo, mas de entender como as coisas funcionam, testar ideias e aprender com os erros.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5"/>
          <p:cNvSpPr/>
          <p:nvPr/>
        </p:nvSpPr>
        <p:spPr>
          <a:xfrm>
            <a:off x="714240" y="4172040"/>
            <a:ext cx="334260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0960" bIns="-612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730" strike="noStrike" u="none">
                <a:solidFill>
                  <a:srgbClr val="ffd700"/>
                </a:solidFill>
                <a:effectLst/>
                <a:uFillTx/>
                <a:latin typeface="Calibri"/>
              </a:rPr>
              <a:t>// APPROACH: EXPERIMENTAL_LEARNING</a:t>
            </a:r>
            <a:endParaRPr b="0" lang="pt-BR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6"/>
          <p:cNvSpPr/>
          <p:nvPr/>
        </p:nvSpPr>
        <p:spPr>
          <a:xfrm>
            <a:off x="4629240" y="1746720"/>
            <a:ext cx="4085640" cy="2967480"/>
          </a:xfrm>
          <a:prstGeom prst="rect">
            <a:avLst/>
          </a:prstGeom>
          <a:solidFill>
            <a:srgbClr val="333333">
              <a:alpha val="85000"/>
            </a:srgbClr>
          </a:solidFill>
          <a:ln w="82296">
            <a:solidFill>
              <a:srgbClr val="ffd70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7"/>
          <p:cNvSpPr/>
          <p:nvPr/>
        </p:nvSpPr>
        <p:spPr>
          <a:xfrm>
            <a:off x="5000760" y="2032560"/>
            <a:ext cx="144756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d700"/>
                </a:solidFill>
                <a:effectLst/>
                <a:uFillTx/>
                <a:latin typeface="Calibri"/>
              </a:rPr>
              <a:t>Curiosidade e Erro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8"/>
          <p:cNvSpPr/>
          <p:nvPr/>
        </p:nvSpPr>
        <p:spPr>
          <a:xfrm>
            <a:off x="5000760" y="2448360"/>
            <a:ext cx="3428280" cy="81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algn="just" defTabSz="914400">
              <a:lnSpc>
                <a:spcPts val="1599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Essa filosofia promove a curiosidade e o pensamento crítico, incentivando a busca por soluções inovadoras e a personalização de projetos.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9"/>
          <p:cNvSpPr/>
          <p:nvPr/>
        </p:nvSpPr>
        <p:spPr>
          <a:xfrm>
            <a:off x="5000760" y="3388680"/>
            <a:ext cx="3428280" cy="6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algn="just" defTabSz="914400">
              <a:lnSpc>
                <a:spcPts val="1599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É um processo iterativo de tentativa e erro, onde o caminho do "fazer" é tão importante quanto o resultado final.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0"/>
          <p:cNvSpPr/>
          <p:nvPr/>
        </p:nvSpPr>
        <p:spPr>
          <a:xfrm>
            <a:off x="5000760" y="4172040"/>
            <a:ext cx="342828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0960" bIns="-612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730" strike="noStrike" u="none">
                <a:solidFill>
                  <a:srgbClr val="ffd700"/>
                </a:solidFill>
                <a:effectLst/>
                <a:uFillTx/>
                <a:latin typeface="Calibri"/>
              </a:rPr>
              <a:t>// PROCESS: ITERATIVE_EXPLORATION</a:t>
            </a:r>
            <a:endParaRPr b="0" lang="pt-BR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Text 0"/>
          <p:cNvSpPr/>
          <p:nvPr/>
        </p:nvSpPr>
        <p:spPr>
          <a:xfrm>
            <a:off x="1220760" y="428760"/>
            <a:ext cx="6724080" cy="49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8496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ffd700"/>
                </a:solidFill>
                <a:effectLst/>
                <a:uFillTx/>
                <a:latin typeface="Calibri"/>
              </a:rPr>
              <a:t>Espaços Maker: Onde a Magia Acontece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"/>
          <p:cNvSpPr/>
          <p:nvPr/>
        </p:nvSpPr>
        <p:spPr>
          <a:xfrm>
            <a:off x="285840" y="1209240"/>
            <a:ext cx="2761560" cy="3504960"/>
          </a:xfrm>
          <a:prstGeom prst="rect">
            <a:avLst/>
          </a:prstGeom>
          <a:solidFill>
            <a:srgbClr val="333333">
              <a:alpha val="90000"/>
            </a:srgbClr>
          </a:solidFill>
          <a:ln w="82296">
            <a:solidFill>
              <a:srgbClr val="ffd70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" name="Image 1" descr="preencoded.png"/>
          <p:cNvPicPr/>
          <p:nvPr/>
        </p:nvPicPr>
        <p:blipFill>
          <a:blip r:embed="rId2"/>
          <a:stretch/>
        </p:blipFill>
        <p:spPr>
          <a:xfrm>
            <a:off x="500040" y="1334880"/>
            <a:ext cx="285120" cy="28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Text 2"/>
          <p:cNvSpPr/>
          <p:nvPr/>
        </p:nvSpPr>
        <p:spPr>
          <a:xfrm>
            <a:off x="500040" y="1667520"/>
            <a:ext cx="2218680" cy="20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d700"/>
                </a:solidFill>
                <a:effectLst/>
                <a:uFillTx/>
                <a:latin typeface="Calibri"/>
              </a:rPr>
              <a:t>Ambientes Colaborativos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3"/>
          <p:cNvSpPr/>
          <p:nvPr/>
        </p:nvSpPr>
        <p:spPr>
          <a:xfrm>
            <a:off x="500040" y="1846800"/>
            <a:ext cx="2218680" cy="11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algn="just" defTabSz="914400">
              <a:lnSpc>
                <a:spcPts val="1814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Fab Labs</a:t>
            </a: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e </a:t>
            </a: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Hackerspaces</a:t>
            </a: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são laboratórios abertos que oferecem acesso a tecnologias de ponta para a comunidade.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4"/>
          <p:cNvSpPr/>
          <p:nvPr/>
        </p:nvSpPr>
        <p:spPr>
          <a:xfrm>
            <a:off x="500040" y="3048120"/>
            <a:ext cx="2218680" cy="11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algn="just" defTabSz="914400">
              <a:lnSpc>
                <a:spcPts val="1814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São espaços projetados para a experimentação, onde o erro é visto como parte essencial do processo criativo.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5"/>
          <p:cNvSpPr/>
          <p:nvPr/>
        </p:nvSpPr>
        <p:spPr>
          <a:xfrm>
            <a:off x="500040" y="4298760"/>
            <a:ext cx="221868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496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ffd700"/>
                </a:solidFill>
                <a:effectLst/>
                <a:uFillTx/>
                <a:latin typeface="Calibri"/>
              </a:rPr>
              <a:t>// ENV: FAB_LAB_GLOBAL_NET</a:t>
            </a:r>
            <a:endParaRPr b="0" lang="pt-BR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6"/>
          <p:cNvSpPr/>
          <p:nvPr/>
        </p:nvSpPr>
        <p:spPr>
          <a:xfrm>
            <a:off x="3076560" y="1209240"/>
            <a:ext cx="2818800" cy="3504960"/>
          </a:xfrm>
          <a:prstGeom prst="rect">
            <a:avLst/>
          </a:prstGeom>
          <a:solidFill>
            <a:srgbClr val="333333">
              <a:alpha val="90000"/>
            </a:srgbClr>
          </a:solidFill>
          <a:ln w="82296">
            <a:solidFill>
              <a:srgbClr val="ffd70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" name="Image 2" descr="preencoded.png"/>
          <p:cNvPicPr/>
          <p:nvPr/>
        </p:nvPicPr>
        <p:blipFill>
          <a:blip r:embed="rId3"/>
          <a:stretch/>
        </p:blipFill>
        <p:spPr>
          <a:xfrm>
            <a:off x="3348000" y="1334880"/>
            <a:ext cx="285120" cy="28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Text 7"/>
          <p:cNvSpPr/>
          <p:nvPr/>
        </p:nvSpPr>
        <p:spPr>
          <a:xfrm>
            <a:off x="3348000" y="1631520"/>
            <a:ext cx="1392840" cy="20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d700"/>
                </a:solidFill>
                <a:effectLst/>
                <a:uFillTx/>
                <a:latin typeface="Calibri"/>
              </a:rPr>
              <a:t>Fabricação Digital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8"/>
          <p:cNvSpPr/>
          <p:nvPr/>
        </p:nvSpPr>
        <p:spPr>
          <a:xfrm>
            <a:off x="3348000" y="1864800"/>
            <a:ext cx="2275920" cy="10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algn="just" defTabSz="914400">
              <a:lnSpc>
                <a:spcPts val="1417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Equipados com ferramentas como </a:t>
            </a: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impressoras 3D</a:t>
            </a: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, </a:t>
            </a: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cortadoras a laser</a:t>
            </a: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, fresadoras CNC e bancadas de eletrônica.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9"/>
          <p:cNvSpPr/>
          <p:nvPr/>
        </p:nvSpPr>
        <p:spPr>
          <a:xfrm>
            <a:off x="3348000" y="3174120"/>
            <a:ext cx="2275920" cy="82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algn="just" defTabSz="914400">
              <a:lnSpc>
                <a:spcPts val="1301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Permitem a transformação rápida de designs digitais em protótipos físicos funcionais.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0"/>
          <p:cNvSpPr/>
          <p:nvPr/>
        </p:nvSpPr>
        <p:spPr>
          <a:xfrm>
            <a:off x="3348000" y="4298760"/>
            <a:ext cx="227592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496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ffd700"/>
                </a:solidFill>
                <a:effectLst/>
                <a:uFillTx/>
                <a:latin typeface="Calibri"/>
              </a:rPr>
              <a:t>// HARDWARE: CNC_LASER_3DPRINT</a:t>
            </a:r>
            <a:endParaRPr b="0" lang="pt-BR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1"/>
          <p:cNvSpPr/>
          <p:nvPr/>
        </p:nvSpPr>
        <p:spPr>
          <a:xfrm>
            <a:off x="5981760" y="1209240"/>
            <a:ext cx="2875680" cy="3504960"/>
          </a:xfrm>
          <a:prstGeom prst="rect">
            <a:avLst/>
          </a:prstGeom>
          <a:solidFill>
            <a:srgbClr val="333333">
              <a:alpha val="90000"/>
            </a:srgbClr>
          </a:solidFill>
          <a:ln w="82296">
            <a:solidFill>
              <a:srgbClr val="ffd70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3" name="Image 3" descr="preencoded.png"/>
          <p:cNvPicPr/>
          <p:nvPr/>
        </p:nvPicPr>
        <p:blipFill>
          <a:blip r:embed="rId4"/>
          <a:stretch/>
        </p:blipFill>
        <p:spPr>
          <a:xfrm>
            <a:off x="6310440" y="1334880"/>
            <a:ext cx="356400" cy="28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Text 12"/>
          <p:cNvSpPr/>
          <p:nvPr/>
        </p:nvSpPr>
        <p:spPr>
          <a:xfrm>
            <a:off x="6310440" y="1631520"/>
            <a:ext cx="1478160" cy="20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d700"/>
                </a:solidFill>
                <a:effectLst/>
                <a:uFillTx/>
                <a:latin typeface="Calibri"/>
              </a:rPr>
              <a:t>Cultura de Troca11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3"/>
          <p:cNvSpPr/>
          <p:nvPr/>
        </p:nvSpPr>
        <p:spPr>
          <a:xfrm>
            <a:off x="6310440" y="1864800"/>
            <a:ext cx="2332800" cy="82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algn="just" defTabSz="914400">
              <a:lnSpc>
                <a:spcPts val="1301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Mais do que máquinas, esses espaços promovem a </a:t>
            </a: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mentoria</a:t>
            </a: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e a troca de conhecimento entre pessoas de diversas áreas.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4"/>
          <p:cNvSpPr/>
          <p:nvPr/>
        </p:nvSpPr>
        <p:spPr>
          <a:xfrm>
            <a:off x="6310440" y="3046680"/>
            <a:ext cx="2332800" cy="82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algn="just" defTabSz="914400">
              <a:lnSpc>
                <a:spcPts val="1301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 colaboração interdisciplinar é o motor que impulsiona a inovação dentro da comunidade maker.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5"/>
          <p:cNvSpPr/>
          <p:nvPr/>
        </p:nvSpPr>
        <p:spPr>
          <a:xfrm>
            <a:off x="6310440" y="4298760"/>
            <a:ext cx="233280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496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ffd700"/>
                </a:solidFill>
                <a:effectLst/>
                <a:uFillTx/>
                <a:latin typeface="Calibri"/>
              </a:rPr>
              <a:t>// SOCIAL: PEER_TO_PEER_LEARNING</a:t>
            </a:r>
            <a:endParaRPr b="0" lang="pt-BR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Text 0"/>
          <p:cNvSpPr/>
          <p:nvPr/>
        </p:nvSpPr>
        <p:spPr>
          <a:xfrm>
            <a:off x="1699560" y="390600"/>
            <a:ext cx="5481720" cy="49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8496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ffd700"/>
                </a:solidFill>
                <a:effectLst/>
                <a:uFillTx/>
                <a:latin typeface="Calibri"/>
              </a:rPr>
              <a:t>Impacto na Educação e Inovação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1"/>
          <p:cNvSpPr/>
          <p:nvPr/>
        </p:nvSpPr>
        <p:spPr>
          <a:xfrm>
            <a:off x="428760" y="1280520"/>
            <a:ext cx="2618640" cy="3433680"/>
          </a:xfrm>
          <a:prstGeom prst="rect">
            <a:avLst/>
          </a:prstGeom>
          <a:solidFill>
            <a:srgbClr val="333333">
              <a:alpha val="85000"/>
            </a:srgbClr>
          </a:solidFill>
          <a:ln w="82296">
            <a:solidFill>
              <a:srgbClr val="ffd70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"/>
          <p:cNvSpPr/>
          <p:nvPr/>
        </p:nvSpPr>
        <p:spPr>
          <a:xfrm>
            <a:off x="642960" y="1494720"/>
            <a:ext cx="2075760" cy="20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d700"/>
                </a:solidFill>
                <a:effectLst/>
                <a:uFillTx/>
                <a:latin typeface="Calibri"/>
              </a:rPr>
              <a:t>Aprendizado Ativo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3"/>
          <p:cNvSpPr/>
          <p:nvPr/>
        </p:nvSpPr>
        <p:spPr>
          <a:xfrm>
            <a:off x="642960" y="2030400"/>
            <a:ext cx="2075760" cy="10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algn="just" defTabSz="914400">
              <a:lnSpc>
                <a:spcPts val="14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Promove a conexão direta entre teoria e prática, incentivando os alunos a aprenderem através da construção de projetos reais.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4"/>
          <p:cNvSpPr/>
          <p:nvPr/>
        </p:nvSpPr>
        <p:spPr>
          <a:xfrm>
            <a:off x="642960" y="3291120"/>
            <a:ext cx="2075760" cy="10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algn="just" defTabSz="914400">
              <a:lnSpc>
                <a:spcPts val="14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 conhecimento é construído de forma significativa, aumentando o engajamento e a retenção.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5"/>
          <p:cNvSpPr/>
          <p:nvPr/>
        </p:nvSpPr>
        <p:spPr>
          <a:xfrm>
            <a:off x="642960" y="4298760"/>
            <a:ext cx="207576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496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ffd700"/>
                </a:solidFill>
                <a:effectLst/>
                <a:uFillTx/>
                <a:latin typeface="Calibri"/>
              </a:rPr>
              <a:t>// METHOD: ACTIVE_LEARNING_v1</a:t>
            </a:r>
            <a:endParaRPr b="0" lang="pt-BR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6"/>
          <p:cNvSpPr/>
          <p:nvPr/>
        </p:nvSpPr>
        <p:spPr>
          <a:xfrm>
            <a:off x="3148200" y="1280520"/>
            <a:ext cx="2675880" cy="3433680"/>
          </a:xfrm>
          <a:prstGeom prst="rect">
            <a:avLst/>
          </a:prstGeom>
          <a:solidFill>
            <a:srgbClr val="333333">
              <a:alpha val="85000"/>
            </a:srgbClr>
          </a:solidFill>
          <a:ln w="82296">
            <a:solidFill>
              <a:srgbClr val="ffd70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7"/>
          <p:cNvSpPr/>
          <p:nvPr/>
        </p:nvSpPr>
        <p:spPr>
          <a:xfrm>
            <a:off x="3419640" y="1494720"/>
            <a:ext cx="2133000" cy="20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d700"/>
                </a:solidFill>
                <a:effectLst/>
                <a:uFillTx/>
                <a:latin typeface="Calibri"/>
              </a:rPr>
              <a:t>Habilidades do Século XXI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8"/>
          <p:cNvSpPr/>
          <p:nvPr/>
        </p:nvSpPr>
        <p:spPr>
          <a:xfrm>
            <a:off x="3419640" y="2069640"/>
            <a:ext cx="2133000" cy="124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algn="just" defTabSz="914400">
              <a:lnSpc>
                <a:spcPts val="14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Desenvolve competências essenciais como criatividade, colaboração, pensamento crítico e resolução de problemas complexos.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9"/>
          <p:cNvSpPr/>
          <p:nvPr/>
        </p:nvSpPr>
        <p:spPr>
          <a:xfrm>
            <a:off x="3419640" y="3402720"/>
            <a:ext cx="2133000" cy="88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algn="just" defTabSz="914400">
              <a:lnSpc>
                <a:spcPts val="14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Prepara os indivíduos para os desafios de um mundo em constante transformação tecnológica.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0"/>
          <p:cNvSpPr/>
          <p:nvPr/>
        </p:nvSpPr>
        <p:spPr>
          <a:xfrm>
            <a:off x="3419640" y="4298760"/>
            <a:ext cx="213300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496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ffd700"/>
                </a:solidFill>
                <a:effectLst/>
                <a:uFillTx/>
                <a:latin typeface="Calibri"/>
              </a:rPr>
              <a:t>// SKILLS: SOFT_TECH_INTEGRATION</a:t>
            </a:r>
            <a:endParaRPr b="0" lang="pt-BR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1"/>
          <p:cNvSpPr/>
          <p:nvPr/>
        </p:nvSpPr>
        <p:spPr>
          <a:xfrm>
            <a:off x="5981760" y="1280520"/>
            <a:ext cx="2733120" cy="3433680"/>
          </a:xfrm>
          <a:prstGeom prst="rect">
            <a:avLst/>
          </a:prstGeom>
          <a:solidFill>
            <a:srgbClr val="333333">
              <a:alpha val="85000"/>
            </a:srgbClr>
          </a:solidFill>
          <a:ln w="82296">
            <a:solidFill>
              <a:srgbClr val="ffd70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2"/>
          <p:cNvSpPr/>
          <p:nvPr/>
        </p:nvSpPr>
        <p:spPr>
          <a:xfrm>
            <a:off x="6310440" y="1494720"/>
            <a:ext cx="2189880" cy="20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d700"/>
                </a:solidFill>
                <a:effectLst/>
                <a:uFillTx/>
                <a:latin typeface="Calibri"/>
              </a:rPr>
              <a:t>Prototipagem Rápida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3"/>
          <p:cNvSpPr/>
          <p:nvPr/>
        </p:nvSpPr>
        <p:spPr>
          <a:xfrm>
            <a:off x="6310440" y="2030400"/>
            <a:ext cx="2189880" cy="88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algn="just" defTabSz="914400">
              <a:lnSpc>
                <a:spcPts val="14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Pilar da inovação, permitindo que ideias sejam testadas, validadas e refinadas de forma ágil e econômica.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4"/>
          <p:cNvSpPr/>
          <p:nvPr/>
        </p:nvSpPr>
        <p:spPr>
          <a:xfrm>
            <a:off x="6310440" y="3335760"/>
            <a:ext cx="218988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algn="just" defTabSz="914400">
              <a:lnSpc>
                <a:spcPts val="14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Reduz o tempo entre a concepção de uma ideia e a criação de um protótipo funcional.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5"/>
          <p:cNvSpPr/>
          <p:nvPr/>
        </p:nvSpPr>
        <p:spPr>
          <a:xfrm>
            <a:off x="6310440" y="4298760"/>
            <a:ext cx="218988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496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ffd700"/>
                </a:solidFill>
                <a:effectLst/>
                <a:uFillTx/>
                <a:latin typeface="Calibri"/>
              </a:rPr>
              <a:t>// INNOVATION: RAPID_PROTO_LAB</a:t>
            </a:r>
            <a:endParaRPr b="0" lang="pt-BR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Text 0"/>
          <p:cNvSpPr/>
          <p:nvPr/>
        </p:nvSpPr>
        <p:spPr>
          <a:xfrm>
            <a:off x="1724760" y="428760"/>
            <a:ext cx="5725800" cy="49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8496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ffd700"/>
                </a:solidFill>
                <a:effectLst/>
                <a:uFillTx/>
                <a:latin typeface="Calibri"/>
              </a:rPr>
              <a:t>Comunidade e Compartilhamento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"/>
          <p:cNvSpPr/>
          <p:nvPr/>
        </p:nvSpPr>
        <p:spPr>
          <a:xfrm>
            <a:off x="428760" y="1280520"/>
            <a:ext cx="3999960" cy="3433680"/>
          </a:xfrm>
          <a:prstGeom prst="rect">
            <a:avLst/>
          </a:prstGeom>
          <a:solidFill>
            <a:srgbClr val="333333">
              <a:alpha val="85000"/>
            </a:srgbClr>
          </a:solidFill>
          <a:ln w="82296">
            <a:solidFill>
              <a:srgbClr val="ffd70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2"/>
          <p:cNvSpPr/>
          <p:nvPr/>
        </p:nvSpPr>
        <p:spPr>
          <a:xfrm>
            <a:off x="714240" y="1566360"/>
            <a:ext cx="184752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d700"/>
                </a:solidFill>
                <a:effectLst/>
                <a:uFillTx/>
                <a:latin typeface="Calibri"/>
              </a:rPr>
              <a:t>A Força da Colaboração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3"/>
          <p:cNvSpPr/>
          <p:nvPr/>
        </p:nvSpPr>
        <p:spPr>
          <a:xfrm>
            <a:off x="714240" y="1982520"/>
            <a:ext cx="3342600" cy="6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algn="just" defTabSz="914400">
              <a:lnSpc>
                <a:spcPts val="1599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Um dos pilares do Movimento Maker é a </a:t>
            </a: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comunidade e o compartilhamento de conhecimento</a:t>
            </a: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4"/>
          <p:cNvSpPr/>
          <p:nvPr/>
        </p:nvSpPr>
        <p:spPr>
          <a:xfrm>
            <a:off x="714240" y="3004560"/>
            <a:ext cx="3342600" cy="10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algn="just" defTabSz="914400">
              <a:lnSpc>
                <a:spcPts val="1599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Essa cultura de código aberto e colaboração acelera o aprendizado, inspira novas criações e permite que projetos sejam replicados, modificados e aprimorados por outros.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5"/>
          <p:cNvSpPr/>
          <p:nvPr/>
        </p:nvSpPr>
        <p:spPr>
          <a:xfrm>
            <a:off x="714240" y="4172040"/>
            <a:ext cx="334260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0960" bIns="-612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730" strike="noStrike" u="none">
                <a:solidFill>
                  <a:srgbClr val="ffd700"/>
                </a:solidFill>
                <a:effectLst/>
                <a:uFillTx/>
                <a:latin typeface="Calibri"/>
              </a:rPr>
              <a:t>// PILLAR: GLOBAL_COLLABORATION</a:t>
            </a:r>
            <a:endParaRPr b="0" lang="pt-BR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6"/>
          <p:cNvSpPr/>
          <p:nvPr/>
        </p:nvSpPr>
        <p:spPr>
          <a:xfrm>
            <a:off x="4629240" y="1280520"/>
            <a:ext cx="4085640" cy="3433680"/>
          </a:xfrm>
          <a:prstGeom prst="rect">
            <a:avLst/>
          </a:prstGeom>
          <a:solidFill>
            <a:srgbClr val="333333">
              <a:alpha val="85000"/>
            </a:srgbClr>
          </a:solidFill>
          <a:ln w="82296">
            <a:solidFill>
              <a:srgbClr val="ffd70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7"/>
          <p:cNvSpPr/>
          <p:nvPr/>
        </p:nvSpPr>
        <p:spPr>
          <a:xfrm>
            <a:off x="5000760" y="1566360"/>
            <a:ext cx="151596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d700"/>
                </a:solidFill>
                <a:effectLst/>
                <a:uFillTx/>
                <a:latin typeface="Calibri"/>
              </a:rPr>
              <a:t>Plataformas Online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8"/>
          <p:cNvSpPr/>
          <p:nvPr/>
        </p:nvSpPr>
        <p:spPr>
          <a:xfrm>
            <a:off x="5000760" y="1982520"/>
            <a:ext cx="3428280" cy="10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algn="just" defTabSz="914400">
              <a:lnSpc>
                <a:spcPts val="1599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Plataformas como </a:t>
            </a: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Instructables</a:t>
            </a: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, </a:t>
            </a: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Thingiverse</a:t>
            </a: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e </a:t>
            </a: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GitHub</a:t>
            </a: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são exemplos de como makers de todo o mundo compartilham seus projetos, tutoriais, códigos e designs.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9"/>
          <p:cNvSpPr/>
          <p:nvPr/>
        </p:nvSpPr>
        <p:spPr>
          <a:xfrm>
            <a:off x="5000760" y="3056040"/>
            <a:ext cx="3428280" cy="6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algn="just" defTabSz="914400">
              <a:lnSpc>
                <a:spcPts val="1599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 troca de experiências e o suporte mútuo são essenciais para o crescimento e a vitalidade do movimento.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0"/>
          <p:cNvSpPr/>
          <p:nvPr/>
        </p:nvSpPr>
        <p:spPr>
          <a:xfrm>
            <a:off x="5000760" y="4172040"/>
            <a:ext cx="342828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0960" bIns="-612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730" strike="noStrike" u="none">
                <a:solidFill>
                  <a:srgbClr val="ffd700"/>
                </a:solidFill>
                <a:effectLst/>
                <a:uFillTx/>
                <a:latin typeface="Calibri"/>
              </a:rPr>
              <a:t>// ECOSYSTEM: OPEN_SOURCE_SHARING</a:t>
            </a:r>
            <a:endParaRPr b="0" lang="pt-BR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Text 0"/>
          <p:cNvSpPr/>
          <p:nvPr/>
        </p:nvSpPr>
        <p:spPr>
          <a:xfrm>
            <a:off x="1616760" y="285840"/>
            <a:ext cx="584820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84960" anchor="t">
            <a:spAutoFit/>
          </a:bodyPr>
          <a:p>
            <a:pPr defTabSz="914400">
              <a:lnSpc>
                <a:spcPts val="2801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ffd700"/>
                </a:solidFill>
                <a:effectLst/>
                <a:uFillTx/>
                <a:latin typeface="Calibri"/>
              </a:rPr>
              <a:t>Exercício Prático Resolvido - Aula 2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"/>
          <p:cNvSpPr/>
          <p:nvPr/>
        </p:nvSpPr>
        <p:spPr>
          <a:xfrm>
            <a:off x="428760" y="937440"/>
            <a:ext cx="8391240" cy="3919320"/>
          </a:xfrm>
          <a:prstGeom prst="rect">
            <a:avLst/>
          </a:prstGeom>
          <a:solidFill>
            <a:srgbClr val="333333">
              <a:alpha val="90000"/>
            </a:srgbClr>
          </a:solidFill>
          <a:ln w="82296">
            <a:solidFill>
              <a:srgbClr val="ffd70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0" name="Image 1" descr="preencoded.png"/>
          <p:cNvPicPr/>
          <p:nvPr/>
        </p:nvPicPr>
        <p:blipFill>
          <a:blip r:embed="rId2"/>
          <a:stretch/>
        </p:blipFill>
        <p:spPr>
          <a:xfrm>
            <a:off x="642960" y="1183320"/>
            <a:ext cx="170640" cy="17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Text 2"/>
          <p:cNvSpPr/>
          <p:nvPr/>
        </p:nvSpPr>
        <p:spPr>
          <a:xfrm>
            <a:off x="921600" y="1152000"/>
            <a:ext cx="1061280" cy="20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d700"/>
                </a:solidFill>
                <a:effectLst/>
                <a:uFillTx/>
                <a:latin typeface="Calibri"/>
              </a:rPr>
              <a:t>Questão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3"/>
          <p:cNvSpPr/>
          <p:nvPr/>
        </p:nvSpPr>
        <p:spPr>
          <a:xfrm>
            <a:off x="642960" y="1852920"/>
            <a:ext cx="7997040" cy="50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algn="just" defTabSz="914400">
              <a:lnSpc>
                <a:spcPts val="1984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Identifique um problema cotidiano que poderia ser resolvido com um projeto maker.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4"/>
          <p:cNvSpPr/>
          <p:nvPr/>
        </p:nvSpPr>
        <p:spPr>
          <a:xfrm>
            <a:off x="642960" y="2785680"/>
            <a:ext cx="7997040" cy="50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algn="just" defTabSz="914400">
              <a:lnSpc>
                <a:spcPts val="1984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Descreva a solução e liste os componentes necessários para um </a:t>
            </a:r>
            <a:r>
              <a:rPr b="1" lang="en-US" sz="2400" strike="noStrike" u="none">
                <a:solidFill>
                  <a:srgbClr val="ffd700"/>
                </a:solidFill>
                <a:effectLst/>
                <a:uFillTx/>
                <a:latin typeface="Calibri"/>
              </a:rPr>
              <a:t>protótipo conceitual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Text 0"/>
          <p:cNvSpPr/>
          <p:nvPr/>
        </p:nvSpPr>
        <p:spPr>
          <a:xfrm>
            <a:off x="428760" y="428760"/>
            <a:ext cx="8286120" cy="49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84960" anchor="t" anchorCtr="1">
            <a:spAutoFit/>
          </a:bodyPr>
          <a:p>
            <a:pPr algn="ctr" defTabSz="914400">
              <a:lnSpc>
                <a:spcPts val="32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ffd700"/>
                </a:solidFill>
                <a:effectLst/>
                <a:uFillTx/>
                <a:latin typeface="Calibri"/>
              </a:rPr>
              <a:t>Conclusão da Aula 2: Resumo e Próximos Passos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"/>
          <p:cNvSpPr/>
          <p:nvPr/>
        </p:nvSpPr>
        <p:spPr>
          <a:xfrm>
            <a:off x="428760" y="1746720"/>
            <a:ext cx="3999960" cy="2967480"/>
          </a:xfrm>
          <a:prstGeom prst="rect">
            <a:avLst/>
          </a:prstGeom>
          <a:solidFill>
            <a:srgbClr val="333333">
              <a:alpha val="85000"/>
            </a:srgbClr>
          </a:solidFill>
          <a:ln w="82296">
            <a:solidFill>
              <a:srgbClr val="ffd70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"/>
          <p:cNvSpPr/>
          <p:nvPr/>
        </p:nvSpPr>
        <p:spPr>
          <a:xfrm>
            <a:off x="714240" y="2032560"/>
            <a:ext cx="150696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d700"/>
                </a:solidFill>
                <a:effectLst/>
                <a:uFillTx/>
                <a:latin typeface="Calibri"/>
              </a:rPr>
              <a:t>O que aprendemos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3"/>
          <p:cNvSpPr/>
          <p:nvPr/>
        </p:nvSpPr>
        <p:spPr>
          <a:xfrm>
            <a:off x="714240" y="2448360"/>
            <a:ext cx="3342600" cy="81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Exploramos a cultura do "fazer", compreendendo como o </a:t>
            </a: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Movimento Maker</a:t>
            </a: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e o </a:t>
            </a: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Tinkering</a:t>
            </a: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impulsionam a inovação e o aprendizado ativo.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4"/>
          <p:cNvSpPr/>
          <p:nvPr/>
        </p:nvSpPr>
        <p:spPr>
          <a:xfrm>
            <a:off x="714240" y="3352680"/>
            <a:ext cx="3342600" cy="81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Vimos a importância dos espaços colaborativos e o poder do compartilhamento de conhecimento para transformar ideias em realidade.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5"/>
          <p:cNvSpPr/>
          <p:nvPr/>
        </p:nvSpPr>
        <p:spPr>
          <a:xfrm>
            <a:off x="714240" y="4172040"/>
            <a:ext cx="334260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0960" bIns="-612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730" strike="noStrike" u="none">
                <a:solidFill>
                  <a:srgbClr val="ffd700"/>
                </a:solidFill>
                <a:effectLst/>
                <a:uFillTx/>
                <a:latin typeface="Calibri"/>
              </a:rPr>
              <a:t>// SUMMARY: MAKER_CULTURE_COMPLETE</a:t>
            </a:r>
            <a:endParaRPr b="0" lang="pt-BR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6"/>
          <p:cNvSpPr/>
          <p:nvPr/>
        </p:nvSpPr>
        <p:spPr>
          <a:xfrm>
            <a:off x="4629240" y="1746720"/>
            <a:ext cx="4085640" cy="2967480"/>
          </a:xfrm>
          <a:prstGeom prst="rect">
            <a:avLst/>
          </a:prstGeom>
          <a:solidFill>
            <a:srgbClr val="333333">
              <a:alpha val="85000"/>
            </a:srgbClr>
          </a:solidFill>
          <a:ln w="82296">
            <a:solidFill>
              <a:srgbClr val="ffd70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7"/>
          <p:cNvSpPr/>
          <p:nvPr/>
        </p:nvSpPr>
        <p:spPr>
          <a:xfrm>
            <a:off x="5000760" y="2032560"/>
            <a:ext cx="151380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d700"/>
                </a:solidFill>
                <a:effectLst/>
                <a:uFillTx/>
                <a:latin typeface="Calibri"/>
              </a:rPr>
              <a:t>O que vem a seguir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8"/>
          <p:cNvSpPr/>
          <p:nvPr/>
        </p:nvSpPr>
        <p:spPr>
          <a:xfrm>
            <a:off x="5000760" y="2448360"/>
            <a:ext cx="3428280" cy="81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Na próxima aula, mergulharemos nos aspectos de </a:t>
            </a: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hardware e software open source</a:t>
            </a: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, essenciais para a construção de projetos de IoT.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9"/>
          <p:cNvSpPr/>
          <p:nvPr/>
        </p:nvSpPr>
        <p:spPr>
          <a:xfrm>
            <a:off x="5000760" y="3352680"/>
            <a:ext cx="3428280" cy="6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Focaremos em plataformas como </a:t>
            </a: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Arduino</a:t>
            </a: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, </a:t>
            </a: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Raspberry Pi</a:t>
            </a: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e </a:t>
            </a: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ESP32</a:t>
            </a: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, e como elas facilitam a criação de dispositivos conectados.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0"/>
          <p:cNvSpPr/>
          <p:nvPr/>
        </p:nvSpPr>
        <p:spPr>
          <a:xfrm>
            <a:off x="5000760" y="4172040"/>
            <a:ext cx="342828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0960" bIns="-612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730" strike="noStrike" u="none">
                <a:solidFill>
                  <a:srgbClr val="ffd700"/>
                </a:solidFill>
                <a:effectLst/>
                <a:uFillTx/>
                <a:latin typeface="Calibri"/>
              </a:rPr>
              <a:t>// NEXT: OPEN_SOURCE_IOT_v1.0</a:t>
            </a:r>
            <a:endParaRPr b="0" lang="pt-BR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Application>LibreOffice/25.2.7.2$Windows_X86_64 LibreOffice_project/5cbfd1ab6520636bb5f7b99185aa69bd7456825d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2026-02-20T20:40:21Z</dcterms:created>
  <dc:creator>PptxGenJS</dc:creator>
  <dc:description/>
  <dc:language>pt-BR</dc:language>
  <cp:lastModifiedBy/>
  <dcterms:modified xsi:type="dcterms:W3CDTF">2026-03-01T11:39:20Z</dcterms:modified>
  <cp:revision>6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