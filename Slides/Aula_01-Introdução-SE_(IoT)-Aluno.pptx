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11.png" ContentType="image/png"/>
  <Override PartName="/ppt/media/image5.jpeg" ContentType="image/jpeg"/>
  <Override PartName="/ppt/media/image7.png" ContentType="image/png"/>
  <Override PartName="/ppt/media/image6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2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D0923E2-74EA-43D8-90AC-348FBAEB132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F6132D-953E-47FF-A619-7FE48F3FC08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B08D9C-2DC1-4DB5-BED8-DABBBC10530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094D7E-979E-459C-A42C-A34A7B1F733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75BBF4-F1A5-4B52-A121-8060EB3A40C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4A106E-81BC-4AC0-8772-76E9BFE184F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FC550A-C0E9-4401-86AF-E596E516AEE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C834BF-1389-446F-9F65-26F5582B76C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F11F2F-EBCE-4B5E-9B49-BA25F5619EB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51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285840" y="1566000"/>
            <a:ext cx="5294520" cy="15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00"/>
              </a:lnSpc>
              <a:tabLst>
                <a:tab algn="l" pos="0"/>
              </a:tabLst>
            </a:pPr>
            <a:r>
              <a:rPr b="1" lang="en-US" sz="329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Introdução aos Sistemas Embarcados e Internet das Coisas (IoT)</a:t>
            </a:r>
            <a:endParaRPr b="0" lang="pt-BR" sz="32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6210360" y="917280"/>
            <a:ext cx="2646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Visão Geral e Fundamentos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6210360" y="1654560"/>
            <a:ext cx="2646360" cy="19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Esta aula tem como objetivo apresentar os conceitos fundamentais de sistemas embarcados e da Internet das Coisas (IoT), explorando suas definições, histórico, arquiteturas básicas e aplicações no mundo contemporâneo. Serão abordados os desafios inerentes a essas tecnologias, como segurança, privacidade e interoperabilidade, preparando o terreno para discussões mais aprofundadas sobre o tema.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23044" sy="23044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9142560" cy="51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0"/>
          <p:cNvSpPr/>
          <p:nvPr/>
        </p:nvSpPr>
        <p:spPr>
          <a:xfrm>
            <a:off x="1478520" y="177840"/>
            <a:ext cx="618588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835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Sistemas Embarcados: 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835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Definição e Características Essenciais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285840" y="1496520"/>
            <a:ext cx="5294520" cy="20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814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Sistemas embarcados são computadores especializados, projetados para realizar funções específicas dentro de um sistema maior. Diferentemente de computadores de uso geral, eles são otimizados para uma tarefa particular, o que lhes confere características distintas. Exemplos comuns incluem controladores em automóveis, eletrodomésticos, dispositivos médicos e sistemas de automação industrial.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6210360" y="1503720"/>
            <a:ext cx="215064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Otimizados parauma tarefa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 específica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6210360" y="1962720"/>
            <a:ext cx="19612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Operação em tempo real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6210360" y="2241360"/>
            <a:ext cx="27691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Recursos computacionais limitados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6210360" y="2493360"/>
            <a:ext cx="26082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(memória, processamento, energia)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6210360" y="2943720"/>
            <a:ext cx="12312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Necessidade de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7519320" y="2943720"/>
            <a:ext cx="14612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alta confiabilidade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6210360" y="3294720"/>
            <a:ext cx="662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Foco em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7023240" y="3294720"/>
            <a:ext cx="8942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baixo custo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51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0"/>
          <p:cNvSpPr/>
          <p:nvPr/>
        </p:nvSpPr>
        <p:spPr>
          <a:xfrm>
            <a:off x="1352880" y="285840"/>
            <a:ext cx="64382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835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A Jornada dos Sistemas Embarcados: 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835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Do Isolamento à Conectividade Global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745200" y="1326600"/>
            <a:ext cx="771372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814"/>
              </a:lnSpc>
              <a:buClr>
                <a:srgbClr val="2d343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A evolução dos sistemas embarcados remonta aos primeiros computadores digitais, com marcos importantes como o </a:t>
            </a:r>
            <a:r>
              <a:rPr b="1" lang="en-US" sz="2000" strike="noStrike" u="none">
                <a:solidFill>
                  <a:srgbClr val="fd79a8"/>
                </a:solidFill>
                <a:effectLst/>
                <a:uFillTx/>
                <a:latin typeface="Calibri"/>
              </a:rPr>
              <a:t>Apollo Guidance Computer na década de 1960</a:t>
            </a: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. Inicialmente, eram sistemas isolados, focados em controle e automação local.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786240" y="2472840"/>
            <a:ext cx="771372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814"/>
              </a:lnSpc>
              <a:buClr>
                <a:srgbClr val="2d343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Com o avanço da microeletrônica e das redes de comunicação, especialmente a Internet, esses sistemas começaram a incorporar capacidades de conectividade, culminando na era da </a:t>
            </a:r>
            <a:r>
              <a:rPr b="1" lang="en-US" sz="2000" strike="noStrike" u="none">
                <a:solidFill>
                  <a:srgbClr val="fd79a8"/>
                </a:solidFill>
                <a:effectLst/>
                <a:uFillTx/>
                <a:latin typeface="Calibri"/>
              </a:rPr>
              <a:t>Internet das Coisas (IoT)</a:t>
            </a: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714240" y="3629520"/>
            <a:ext cx="771372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814"/>
              </a:lnSpc>
              <a:buClr>
                <a:srgbClr val="2d343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Essa transição transformou dispositivos autônomos em componentes interconectados de ecossistemas digitais maiores, impulsionando a inovação em diversas áreas.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51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0"/>
          <p:cNvSpPr/>
          <p:nvPr/>
        </p:nvSpPr>
        <p:spPr>
          <a:xfrm>
            <a:off x="739080" y="428760"/>
            <a:ext cx="76654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Arquitetura Básica de um Sistema Embarcado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285840" y="1169640"/>
            <a:ext cx="5331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4501"/>
              </a:lnSpc>
              <a:tabLst>
                <a:tab algn="l" pos="0"/>
              </a:tabLst>
            </a:pPr>
            <a:r>
              <a:rPr b="1" lang="en-US" sz="4140" strike="noStrike" u="none">
                <a:solidFill>
                  <a:srgbClr val="fd79a8"/>
                </a:solidFill>
                <a:effectLst/>
                <a:uFillTx/>
                <a:latin typeface="Calibri"/>
              </a:rPr>
              <a:t>01</a:t>
            </a:r>
            <a:endParaRPr b="0" lang="pt-BR" sz="4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285840" y="1884240"/>
            <a:ext cx="232848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Unidade de Processamento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285840" y="2455560"/>
            <a:ext cx="2436840" cy="19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O "cérebro" do sistema. Pode ser um microcontrolador (integrado) ou microprocessador. Responsável por executar as instruções do programa e processar dados.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3352680" y="1169640"/>
            <a:ext cx="5331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4501"/>
              </a:lnSpc>
              <a:tabLst>
                <a:tab algn="l" pos="0"/>
              </a:tabLst>
            </a:pPr>
            <a:r>
              <a:rPr b="1" lang="en-US" sz="4140" strike="noStrike" u="none">
                <a:solidFill>
                  <a:srgbClr val="fd79a8"/>
                </a:solidFill>
                <a:effectLst/>
                <a:uFillTx/>
                <a:latin typeface="Calibri"/>
              </a:rPr>
              <a:t>02</a:t>
            </a:r>
            <a:endParaRPr b="0" lang="pt-BR" sz="4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3352680" y="1884240"/>
            <a:ext cx="132624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Memória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3352680" y="2275560"/>
            <a:ext cx="2436840" cy="193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00000"/>
              </a:lnSpc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Armazena o código e os dados.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 • RAM: Dados voláteis de execução.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 • Flash/EEPROM: Armazenamento persistente do firmware.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6419880" y="1169640"/>
            <a:ext cx="5331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4501"/>
              </a:lnSpc>
              <a:tabLst>
                <a:tab algn="l" pos="0"/>
              </a:tabLst>
            </a:pPr>
            <a:r>
              <a:rPr b="1" lang="en-US" sz="4140" strike="noStrike" u="none">
                <a:solidFill>
                  <a:srgbClr val="fd79a8"/>
                </a:solidFill>
                <a:effectLst/>
                <a:uFillTx/>
                <a:latin typeface="Calibri"/>
              </a:rPr>
              <a:t>03</a:t>
            </a:r>
            <a:endParaRPr b="0" lang="pt-BR" sz="4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6419880" y="1884240"/>
            <a:ext cx="22194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Dispositivos de E/S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6419880" y="2275560"/>
            <a:ext cx="2436840" cy="187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00000"/>
              </a:lnSpc>
            </a:pPr>
            <a:r>
              <a:rPr b="1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Interface com o mundo real.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1" lang="en-US" sz="15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 •</a:t>
            </a: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 Sensores: Entradas (temperatura, luz, movimento).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 • Atuadores: Saídas (motores, LEDs, relés).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0"/>
          <p:cNvSpPr/>
          <p:nvPr/>
        </p:nvSpPr>
        <p:spPr>
          <a:xfrm>
            <a:off x="0" y="4722120"/>
            <a:ext cx="9142560" cy="420120"/>
          </a:xfrm>
          <a:prstGeom prst="rect">
            <a:avLst/>
          </a:prstGeom>
          <a:solidFill>
            <a:srgbClr val="2d34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0" y="4650120"/>
            <a:ext cx="914256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rIns="169920" tIns="57600" bIns="57600" anchor="t">
            <a:spAutoFit/>
          </a:bodyPr>
          <a:p>
            <a:pPr algn="ctr" defTabSz="914400">
              <a:lnSpc>
                <a:spcPts val="1814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 integração harmoniosa destes três pilares define a eficiência e a capacidade de resposta de um sistema embarcado.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Image 1" descr="preencoded.png"/>
          <p:cNvPicPr/>
          <p:nvPr/>
        </p:nvPicPr>
        <p:blipFill>
          <a:blip r:embed="rId2"/>
          <a:stretch/>
        </p:blipFill>
        <p:spPr>
          <a:xfrm>
            <a:off x="1652760" y="1722240"/>
            <a:ext cx="1070280" cy="85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0"/>
          <p:cNvSpPr/>
          <p:nvPr/>
        </p:nvSpPr>
        <p:spPr>
          <a:xfrm>
            <a:off x="428760" y="2724120"/>
            <a:ext cx="34275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4000"/>
              </a:lnSpc>
              <a:tabLst>
                <a:tab algn="l" pos="0"/>
              </a:tabLst>
            </a:pPr>
            <a:r>
              <a:rPr b="1" lang="en-US" sz="329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Internet das Coisas (IoT)</a:t>
            </a:r>
            <a:endParaRPr b="0" lang="pt-BR" sz="32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4629240" y="1121400"/>
            <a:ext cx="40849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Conectando o Mundo Físico ao Digital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4629240" y="1738080"/>
            <a:ext cx="4084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A Internet das Coisas (IoT) refere-se à rede de objetos físicos equipados com sensores, software e outras tecnologias que se conectam e trocam dados com outros dispositivos e sistemas pela internet.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4629240" y="3289680"/>
            <a:ext cx="188028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14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d79a8"/>
                </a:solidFill>
                <a:effectLst/>
                <a:uFillTx/>
                <a:latin typeface="Calibri"/>
              </a:rPr>
              <a:t>Objetivo Principal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4629240" y="3536280"/>
            <a:ext cx="4084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Estender a conectividade da internet para além dos dispositivos tradicionais, permitindo que objetos do dia a dia coletem e troquem dados para criar ambientes mais inteligentes e responsivos.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51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0"/>
          <p:cNvSpPr/>
          <p:nvPr/>
        </p:nvSpPr>
        <p:spPr>
          <a:xfrm>
            <a:off x="1378800" y="428760"/>
            <a:ext cx="63860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835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O Impacto da IoT em Diversos Setores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800280" y="1169640"/>
            <a:ext cx="250200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14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01. Cidades Inteligentes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800280" y="1489320"/>
            <a:ext cx="3627720" cy="14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276"/>
              </a:lnSpc>
              <a:buClr>
                <a:srgbClr val="2d343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05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Otimização do tráfego urbano, iluminação pública inteligente e gestão eficiente de resíduos e recursos hídricos. 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1276"/>
              </a:lnSpc>
              <a:buClr>
                <a:srgbClr val="2d3436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105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Gestão de Tráfego Inteligente</a:t>
            </a:r>
            <a:r>
              <a:rPr b="0" lang="en-US" sz="105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: Sistemas de IoT monitoram o fluxo de veículos e pedestres em tempo real, ajustando semáforos automaticamente para reduzir congestionamentos e emissões de CO2. Exemplos incluem semáforos que dão prioridade a veículos de emergência, diminuindo o tempo de resposta.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t-BR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4943520" y="1169640"/>
            <a:ext cx="215460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14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02. Saúde (e-Health)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4943520" y="1489320"/>
            <a:ext cx="3627720" cy="16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Monitoramento remoto de pacientes em tempo real, dispositivos vestíveis (wearables) e gestão hospitalar conectada. IOT está revolucionando o setor de saúde, criando o que se convencionou chamar de Internet das Coisas Médicas (IoMT). Esta tecnologia conecta dispositivos médicos, sensores e sistemas de informação a redes (nuvem) para monitorar, analisar e gerenciar dados de saúde em tempo real, transformando o cuidado preventivo e a gestão hospitalar. O mercado de IoT na saúde está em rápida expansão, com previsões de crescimento significativo até 2030 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800280" y="3160800"/>
            <a:ext cx="171000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14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03. Indústria 4.0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800280" y="3408480"/>
            <a:ext cx="3627720" cy="15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134"/>
              </a:lnSpc>
              <a:spcBef>
                <a:spcPts val="1191"/>
              </a:spcBef>
              <a:spcAft>
                <a:spcPts val="992"/>
              </a:spcAft>
              <a:buClr>
                <a:srgbClr val="2d343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Automação avançada de fábricas, manutenção preditiva baseada em dados e otimização total da cadeia de suprimentos.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1134"/>
              </a:lnSpc>
              <a:spcBef>
                <a:spcPts val="1191"/>
              </a:spcBef>
              <a:spcAft>
                <a:spcPts val="992"/>
              </a:spcAft>
              <a:buClr>
                <a:srgbClr val="2d343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 </a:t>
            </a:r>
            <a:r>
              <a:rPr b="1" lang="en-US" sz="1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Manutenção Preditiva:</a:t>
            </a:r>
            <a:r>
              <a:rPr b="0" lang="en-US" sz="1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 Sensores inteligentes monitoram o desgaste de equipamentos em tempo real, permitindo reparos antes que ocorram falhas, o que pode reduzir o tempo de inatividade em até 50% e aumentar a vida útil da máquina em até 40%.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34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t-BR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4943520" y="3160800"/>
            <a:ext cx="28447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14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465a4"/>
                </a:solidFill>
                <a:effectLst/>
                <a:uFillTx/>
                <a:latin typeface="Calibri"/>
              </a:rPr>
              <a:t>04. Automação Residencial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4943520" y="3420000"/>
            <a:ext cx="3627720" cy="172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Controle inteligente de iluminação, climatização, segurança e eletrodomésticos para maior conforto e economia. </a:t>
            </a:r>
            <a:r>
              <a:rPr b="1" lang="en-US" sz="1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Controle de Iluminação:</a:t>
            </a:r>
            <a:r>
              <a:rPr b="0" lang="en-US" sz="1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 Lâmpadas e interruptores inteligentes que se ajustam automaticamente à presença humana ou luz natural, economizando energia. </a:t>
            </a:r>
            <a:r>
              <a:rPr b="1" lang="en-US" sz="1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Segurança e Monitoramento:</a:t>
            </a:r>
            <a:r>
              <a:rPr b="0" lang="en-US" sz="1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 Câmeras, sensores de movimento, detectores de fumaça e fechaduras inteligentes (smart locks) que enviam alertas em tempo real para o celular do usuário, permitindo o monitoramento à distância.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pt-BR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0" y="4722120"/>
            <a:ext cx="91425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0" rIns="0" tIns="227880" bIns="-112320" anchor="t" anchorCtr="1">
            <a:spAutoFit/>
          </a:bodyPr>
          <a:p>
            <a:pPr algn="ctr" defTabSz="914400">
              <a:lnSpc>
                <a:spcPts val="1134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Aplicações Práticas e Setoriais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51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0"/>
          <p:cNvSpPr/>
          <p:nvPr/>
        </p:nvSpPr>
        <p:spPr>
          <a:xfrm>
            <a:off x="1037160" y="428760"/>
            <a:ext cx="70689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835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Superando Obstáculos: Os Desafios da IoT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800280" y="1169640"/>
            <a:ext cx="1706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01. SEGURANÇA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800280" y="1489320"/>
            <a:ext cx="3627720" cy="11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814"/>
              </a:lnSpc>
              <a:buClr>
                <a:srgbClr val="2d343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Preocupação primordial. A interconexão de milhões de dispositivos cria novos pontos de vulnerabilidade a ataques cibernéticos e invasões.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4943520" y="1169640"/>
            <a:ext cx="181404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14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02. PRIVACIDADE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4943520" y="1489320"/>
            <a:ext cx="3627720" cy="13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814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Crítica para a proteção de dados coletados. Exige regulamentações rigorosas e práticas éticas para proteger informações pessoais dos usuários.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800280" y="3299400"/>
            <a:ext cx="27183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14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03. INTEROPERABILIDADE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800280" y="3619080"/>
            <a:ext cx="3627720" cy="13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814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A comunicação entre dispositivos e plataformas de diferentes fabricantes é essencial para a criação de ecossistemas coesos e funcionais.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4943520" y="3299400"/>
            <a:ext cx="25023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14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04. RECURSOS E DADOS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4943520" y="3619080"/>
            <a:ext cx="3627720" cy="11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814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O consumo de energia em dispositivos remotos e a gestão de volumes massivos de dados em larga escala demandam soluções técnicas inovadoras.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51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0"/>
          <p:cNvSpPr/>
          <p:nvPr/>
        </p:nvSpPr>
        <p:spPr>
          <a:xfrm>
            <a:off x="1648080" y="285840"/>
            <a:ext cx="5847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835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Exercício Prático Resolvido - Aula 1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1" descr="preencoded.png"/>
          <p:cNvPicPr/>
          <p:nvPr/>
        </p:nvPicPr>
        <p:blipFill>
          <a:blip r:embed="rId2"/>
          <a:stretch/>
        </p:blipFill>
        <p:spPr>
          <a:xfrm>
            <a:off x="428760" y="915120"/>
            <a:ext cx="169920" cy="16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1"/>
          <p:cNvSpPr/>
          <p:nvPr/>
        </p:nvSpPr>
        <p:spPr>
          <a:xfrm>
            <a:off x="707400" y="884160"/>
            <a:ext cx="8863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14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Questão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"/>
          <p:cNvSpPr/>
          <p:nvPr/>
        </p:nvSpPr>
        <p:spPr>
          <a:xfrm>
            <a:off x="428760" y="1260720"/>
            <a:ext cx="3061800" cy="107028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428760" y="1260720"/>
            <a:ext cx="27000" cy="1070280"/>
          </a:xfrm>
          <a:prstGeom prst="rect">
            <a:avLst/>
          </a:prstGeom>
          <a:solidFill>
            <a:srgbClr val="6c5c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535680" y="1368000"/>
            <a:ext cx="284760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1. Cite três exemplos de sistemas embarcados do dia a dia e suas funções.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535680" y="1904760"/>
            <a:ext cx="284760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d3436"/>
                </a:solidFill>
                <a:effectLst/>
                <a:uFillTx/>
                <a:latin typeface="Calibri"/>
              </a:rPr>
              <a:t>2. Proponha um cenário simples de IoT para resolver um problema cotidiano.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2" descr="preencoded.png"/>
          <p:cNvPicPr/>
          <p:nvPr/>
        </p:nvPicPr>
        <p:blipFill>
          <a:blip r:embed="rId3"/>
          <a:stretch/>
        </p:blipFill>
        <p:spPr>
          <a:xfrm>
            <a:off x="4120560" y="915120"/>
            <a:ext cx="169920" cy="16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6"/>
          <p:cNvSpPr/>
          <p:nvPr/>
        </p:nvSpPr>
        <p:spPr>
          <a:xfrm>
            <a:off x="4399200" y="884160"/>
            <a:ext cx="107244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14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6c5ce7"/>
                </a:solidFill>
                <a:effectLst/>
                <a:uFillTx/>
                <a:latin typeface="Calibri"/>
              </a:rPr>
              <a:t>Resolução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2026-02-20T20:38:58Z</dcterms:created>
  <dc:creator>PptxGenJS</dc:creator>
  <dc:description/>
  <dc:language>pt-BR</dc:language>
  <cp:lastModifiedBy/>
  <dcterms:modified xsi:type="dcterms:W3CDTF">2026-03-01T15:21:25Z</dcterms:modified>
  <cp:revision>11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