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28.png" ContentType="image/png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29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jpeg" ContentType="image/jpeg"/>
  <Override PartName="/ppt/media/image16.png" ContentType="image/png"/>
  <Override PartName="/ppt/media/image17.png" ContentType="image/png"/>
  <Override PartName="/ppt/media/image24.jpeg" ContentType="image/jpe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5.png" ContentType="image/png"/>
  <Override PartName="/ppt/media/image26.png" ContentType="image/png"/>
  <Override PartName="/ppt/media/image2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1EBDAA-BEF6-40B6-8468-15ADA449F4A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FB5A8C-B0E1-4703-B085-B1FAC7F3C1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69010E-8E10-40E1-A444-DDAB05C57B3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602373-1C7D-45D0-9CE5-E281A490653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DC2C94-BD9F-45EE-928A-7B98FD5C48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86C287-3EE4-4527-8257-8E78977B0D1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315E5C-49F3-4915-9CF8-64B91B7E70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C888DB-777A-4A22-8E9D-012DFF067F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04E42A-E06C-428D-94A4-C0AEA99D6F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70B5C2-F98D-4921-974A-0CD8B15D00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3041AA-6F84-424E-B020-BA4BF742EE8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056E62-7FDE-4A7C-9B9D-38C0D8DEE3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729B02-CDC1-493F-AE61-5B9D27361FD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10F7D6-C060-4E3E-B0A9-22F91011385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en.wikipedia.org/wiki/Raspberry_Pi_OS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3.png"/><Relationship Id="rId3" Type="http://schemas.openxmlformats.org/officeDocument/2006/relationships/hyperlink" Target="https://www.google.com/search?q=nesC&amp;sca_esv=2df5d5c022344074&amp;biw=1707&amp;bih=806&amp;sxsrf=ANbL-n7SCp7lFUyuzvF0m81TSi_DgXwAYA%3A1771634265509&amp;ei=Wf6YacHjHsiS5OUPwq3E6Q4&amp;ved=2ahUKEwjX6I7iremSAxXKA7kGHUYHHRIQgK4QegQIARAC&amp;oq=sobre+Sistemas+Operacionais+TinyOS&amp;gs_lp=Egxnd3Mtd2l6LXNlcnAiInNvYnJlIFNpc3RlbWFzIE9wZXJhY2lvbmFpcyBUaW55T1MyBRAhGKABMgUQIRigAUipG1DeDFjeDHABeAGQAQCYAbIBoAGyAaoBAzAuMbgBDMgBAPgBAvgBAZgCAqACzgHCAgoQABiwAxjWBBhHmAMAiAYBkAYCkgcDMS4xoAe3ArIHAzAuMbgHwAHCBwMyLTLIBwuACAA&amp;sclient=gws-wiz-serp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1000080" y="1125360"/>
            <a:ext cx="7142040" cy="2890800"/>
          </a:xfrm>
          <a:prstGeom prst="rect">
            <a:avLst/>
          </a:prstGeom>
          <a:solidFill>
            <a:srgbClr val="0b0e14">
              <a:alpha val="80000"/>
            </a:srgbClr>
          </a:solidFill>
          <a:ln w="1836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Text 1"/>
          <p:cNvSpPr/>
          <p:nvPr/>
        </p:nvSpPr>
        <p:spPr>
          <a:xfrm>
            <a:off x="1285920" y="1425240"/>
            <a:ext cx="65703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000"/>
              </a:lnSpc>
              <a:tabLst>
                <a:tab algn="l" pos="0"/>
              </a:tabLst>
            </a:pPr>
            <a:r>
              <a:rPr b="1" lang="en-US" sz="3290" spc="3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Hardware e Software Open Source para IoT</a:t>
            </a:r>
            <a:endParaRPr b="0" lang="pt-BR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2635560" y="2645640"/>
            <a:ext cx="38725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2000" spc="3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Arquiteturas Abertas e Conectividade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714680" y="3101040"/>
            <a:ext cx="57132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Explorando o ecossistema de código aberto na Internet das Coisas: das plataformas de hardware como Arduino e ESP32 aos protocolos e sistemas operacionais que dão inteligência aos dispositivos conectados.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/>
          <p:nvPr/>
        </p:nvPicPr>
        <p:blipFill>
          <a:blip r:embed="rId1"/>
          <a:stretch/>
        </p:blipFill>
        <p:spPr>
          <a:xfrm>
            <a:off x="21708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0"/>
          <p:cNvSpPr/>
          <p:nvPr/>
        </p:nvSpPr>
        <p:spPr>
          <a:xfrm>
            <a:off x="428760" y="212760"/>
            <a:ext cx="45932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O que é Open Source Hardware (OSHW)?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428760" y="993240"/>
            <a:ext cx="3998880" cy="242604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714240" y="1202400"/>
            <a:ext cx="16956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2"/>
          <p:cNvSpPr/>
          <p:nvPr/>
        </p:nvSpPr>
        <p:spPr>
          <a:xfrm>
            <a:off x="992880" y="1207080"/>
            <a:ext cx="2286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Definição e Liberdade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714240" y="1475640"/>
            <a:ext cx="34128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Hardware cujos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designs são públicos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, permitindo que qualquer pessoa possa estudar, modificar, fabricar e vender o hardware ou designs baseados nele.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714240" y="2239200"/>
            <a:ext cx="3412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Regido por licenças que garantem essas liberdades, promovendo a transparência e a inovação colaborativa.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14240" y="2738880"/>
            <a:ext cx="34128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// PROTOCOL: OSHW_STANDARD_v1.0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4700520" y="993240"/>
            <a:ext cx="4012920" cy="242604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" name="Image 2" descr="preencoded.png"/>
          <p:cNvPicPr/>
          <p:nvPr/>
        </p:nvPicPr>
        <p:blipFill>
          <a:blip r:embed="rId3"/>
          <a:stretch/>
        </p:blipFill>
        <p:spPr>
          <a:xfrm>
            <a:off x="5000760" y="1166400"/>
            <a:ext cx="16956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7"/>
          <p:cNvSpPr/>
          <p:nvPr/>
        </p:nvSpPr>
        <p:spPr>
          <a:xfrm>
            <a:off x="5279400" y="1171080"/>
            <a:ext cx="239724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Vantagens Estratégicas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5000760" y="1475640"/>
            <a:ext cx="342720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Custos Reduzidos: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Sem taxas de licenciamento proprietário.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Flexibilidade: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Adaptação total às necessidades do projeto.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Transparência: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Segurança através da auditoria do design.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Comunidade: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Suporte global e evolução acelerada.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5000760" y="3170880"/>
            <a:ext cx="34272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// CORE_VALUES: COST_FLEX_COMMUNITY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4"/>
          <a:stretch/>
        </p:blipFill>
        <p:spPr>
          <a:xfrm>
            <a:off x="432000" y="3600000"/>
            <a:ext cx="1799280" cy="13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5"/>
          <a:stretch/>
        </p:blipFill>
        <p:spPr>
          <a:xfrm>
            <a:off x="2808000" y="3600000"/>
            <a:ext cx="1553400" cy="13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6"/>
          <a:stretch/>
        </p:blipFill>
        <p:spPr>
          <a:xfrm>
            <a:off x="5040000" y="3600000"/>
            <a:ext cx="1241280" cy="135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7"/>
          <a:stretch/>
        </p:blipFill>
        <p:spPr>
          <a:xfrm>
            <a:off x="7020000" y="3515040"/>
            <a:ext cx="2184120" cy="152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0"/>
          <p:cNvSpPr/>
          <p:nvPr/>
        </p:nvSpPr>
        <p:spPr>
          <a:xfrm>
            <a:off x="428760" y="428760"/>
            <a:ext cx="43362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Plataformas de Hardware Open Source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428760" y="1137600"/>
            <a:ext cx="2665080" cy="35755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0" name="Image 1" descr="preencoded.png"/>
          <p:cNvPicPr/>
          <p:nvPr/>
        </p:nvPicPr>
        <p:blipFill>
          <a:blip r:embed="rId2"/>
          <a:stretch/>
        </p:blipFill>
        <p:spPr>
          <a:xfrm>
            <a:off x="642960" y="1407240"/>
            <a:ext cx="28404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2"/>
          <p:cNvSpPr/>
          <p:nvPr/>
        </p:nvSpPr>
        <p:spPr>
          <a:xfrm>
            <a:off x="642960" y="1884240"/>
            <a:ext cx="2217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Arduino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642960" y="2167920"/>
            <a:ext cx="2217600" cy="22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19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Arduino é uma plataforma de prototipagem eletrônica de código aberto (open-source) e hardware livre, criada para facilitar o desenvolvimento de projetos de robótica, automação e IoT (Internet das Coisas) de baixo custo. Composta por placas baseadas em microcontroladores Atmel e uma IDE de programação baseada em C/C++, permite conectar sensores e atuadores para criar dispositivos interativos.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642960" y="4413960"/>
            <a:ext cx="221760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// PLATFORM: ATMEGA328P_v1.0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3219480" y="1137600"/>
            <a:ext cx="2674800" cy="35755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" name="Image 2" descr="preencoded.png"/>
          <p:cNvPicPr/>
          <p:nvPr/>
        </p:nvPicPr>
        <p:blipFill>
          <a:blip r:embed="rId3"/>
          <a:stretch/>
        </p:blipFill>
        <p:spPr>
          <a:xfrm>
            <a:off x="3443400" y="1407240"/>
            <a:ext cx="31968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7"/>
          <p:cNvSpPr/>
          <p:nvPr/>
        </p:nvSpPr>
        <p:spPr>
          <a:xfrm>
            <a:off x="3443400" y="1884240"/>
            <a:ext cx="2226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Raspberry Pi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3443400" y="2167920"/>
            <a:ext cx="2226960" cy="17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276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 Raspberry Pi é uma linha de mini-computadores de placa única, do tamanho de um cartão de crédito, desenvolvida no Reino Unido pela Raspberry Pi Foundation. Projetado para promover o ensino de computação, ele é poderoso, de baixo custo e versátil, rodando sistemas Linux (como o </a:t>
            </a:r>
            <a:r>
              <a:rPr b="0" lang="en-US" sz="1200" strike="noStrike" u="non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4"/>
              </a:rPr>
              <a:t>Raspberry Pi OS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) para tarefas de automação, robótica, servidores e mídia.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3443400" y="4377960"/>
            <a:ext cx="22269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// PLATFORM: BCM2835_LINUX_CORE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6029280" y="1137600"/>
            <a:ext cx="2684160" cy="35755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0" name="Image 3" descr="preencoded.png"/>
          <p:cNvPicPr/>
          <p:nvPr/>
        </p:nvPicPr>
        <p:blipFill>
          <a:blip r:embed="rId5"/>
          <a:stretch/>
        </p:blipFill>
        <p:spPr>
          <a:xfrm>
            <a:off x="6262560" y="1407240"/>
            <a:ext cx="35532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2"/>
          <p:cNvSpPr/>
          <p:nvPr/>
        </p:nvSpPr>
        <p:spPr>
          <a:xfrm>
            <a:off x="6262560" y="1884240"/>
            <a:ext cx="22366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ESP8266/ESP32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6262560" y="2239920"/>
            <a:ext cx="2236680" cy="18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ESP8266 e ESP32, desenvolvidos pela </a:t>
            </a:r>
            <a:r>
              <a:rPr b="0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EspressifSystems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, são microcontroladores de baixo custo com Wi-Fi integrado, ideais para IoT. O ESP32 é a evolução do ESP8266, oferecendo Bluetooth (clássico+BLE), CPU dual-core, mais GPIOs, RAM e velocidade superior, ideal para projetos complexos, enquanto o ESP8266 se destaca pela economia em aplicações simples. 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6262560" y="4305960"/>
            <a:ext cx="22366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// PLATFORM: ESPRESSIF_IOT_NODE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6"/>
          <a:stretch/>
        </p:blipFill>
        <p:spPr>
          <a:xfrm>
            <a:off x="4548960" y="1440000"/>
            <a:ext cx="1101600" cy="64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7"/>
          <a:stretch/>
        </p:blipFill>
        <p:spPr>
          <a:xfrm>
            <a:off x="2075400" y="1463400"/>
            <a:ext cx="785160" cy="62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8"/>
          <a:stretch/>
        </p:blipFill>
        <p:spPr>
          <a:xfrm>
            <a:off x="7590600" y="1260000"/>
            <a:ext cx="867960" cy="79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0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428760" y="1354680"/>
            <a:ext cx="7849800" cy="368388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714240" y="1671480"/>
            <a:ext cx="16956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2"/>
          <p:cNvSpPr/>
          <p:nvPr/>
        </p:nvSpPr>
        <p:spPr>
          <a:xfrm>
            <a:off x="992880" y="1640520"/>
            <a:ext cx="31345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Sistemas Operacionais (RTOS)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714240" y="2053080"/>
            <a:ext cx="7384320" cy="28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Um Sistema Operacional em Tempo Real (RTOS) é projetado para gerenciar tarefas críticas com restrições de tempo precisas, priorizando o determinismo e a previsibilidade em vez da alta taxa de transferência. Comum em sistemas embarcados e robótica, um RTOS garante que eventos externos sejam processados dentro de prazos rígidos, diferindo de sistemas de propósito geral (GPOS).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00" strike="noStrike" u="none">
                <a:solidFill>
                  <a:srgbClr val="ff4000"/>
                </a:solidFill>
                <a:effectLst/>
                <a:uFillTx/>
                <a:latin typeface="Calibri"/>
                <a:ea typeface="DejaVu Sans"/>
              </a:rPr>
              <a:t>Principais Características e Benefícios: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Determinismo: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 Assegura que tarefas críticas sejam concluídas dentro do prazo estipulado (ex: milissegundos ou microssegundos).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Escalonamento por Prioridade: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 Tarefas mais importantes são executadas primeiro, permitindo respostas rápidas a eventos.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Eficiência e Tamanho Reduzido: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 Leves, ideais para microcontroladores com recursos limitados.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714240" y="4789440"/>
            <a:ext cx="34128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// KERNEL: REAL_TIME_OS_v2.1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7" descr="preencoded.png"/>
          <p:cNvPicPr/>
          <p:nvPr/>
        </p:nvPicPr>
        <p:blipFill>
          <a:blip r:embed="rId1"/>
          <a:stretch/>
        </p:blipFill>
        <p:spPr>
          <a:xfrm>
            <a:off x="180000" y="36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18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428760" y="941760"/>
            <a:ext cx="8713800" cy="409680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7" name="Image 8" descr="preencoded.png"/>
          <p:cNvPicPr/>
          <p:nvPr/>
        </p:nvPicPr>
        <p:blipFill>
          <a:blip r:embed="rId2"/>
          <a:stretch/>
        </p:blipFill>
        <p:spPr>
          <a:xfrm>
            <a:off x="714240" y="1059480"/>
            <a:ext cx="16956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25"/>
          <p:cNvSpPr/>
          <p:nvPr/>
        </p:nvSpPr>
        <p:spPr>
          <a:xfrm>
            <a:off x="992880" y="1028520"/>
            <a:ext cx="23461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Sistemas Operacionais (RTOS)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1015920" y="1278720"/>
            <a:ext cx="758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FreeRTOS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00000" y="1440000"/>
            <a:ext cx="8098560" cy="30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é um sistema operacional de tempo real (RTOS) de código aberto, leve e amplamente utilizado para microcontroladores e dispositivos embarcados/IoT, sendo distribuído gratuitamente sob a licença MIT. Ele gerencia tarefas (multitarefa), tempo e memória, oferecendo alta confiabilidade, portabilidade e suporte a mais de 40 arquiteturas.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trike="noStrike" u="none">
                <a:solidFill>
                  <a:srgbClr val="bf0041"/>
                </a:solidFill>
                <a:effectLst/>
                <a:uFillTx/>
                <a:latin typeface="Arial"/>
                <a:ea typeface="DejaVu Sans"/>
              </a:rPr>
              <a:t>Principais Características e Funcionamento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Kernel de Tempo Real:</a:t>
            </a:r>
            <a:r>
              <a:rPr b="0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 Projetado para ser rápido e confiável, ideal para aplicações com restrições de tempo (hard real-time) ou soft real-time.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Gerenciamento de Tarefas:</a:t>
            </a:r>
            <a:r>
              <a:rPr b="0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 Baseado em prioridades, o agendador (scheduler) determina qual tarefa deve ser executada com base na prioridade e no tempo (tick timer).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Multitarefa:</a:t>
            </a:r>
            <a:r>
              <a:rPr b="0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 Permite que diferentes tarefas rodem de forma intercalada (round-robin) se tiverem a mesma prioridade.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Recursos:</a:t>
            </a:r>
            <a:r>
              <a:rPr b="0" lang="pt-BR" sz="13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 Oferece semáforos, mutexes, filas e temporizadores de software para sincronização e comunicação entre tarefas.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1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43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428760" y="900000"/>
            <a:ext cx="8209800" cy="413856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4" name="Image 11" descr="preencoded.png"/>
          <p:cNvPicPr/>
          <p:nvPr/>
        </p:nvPicPr>
        <p:blipFill>
          <a:blip r:embed="rId2"/>
          <a:stretch/>
        </p:blipFill>
        <p:spPr>
          <a:xfrm>
            <a:off x="714240" y="1059480"/>
            <a:ext cx="16956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44"/>
          <p:cNvSpPr/>
          <p:nvPr/>
        </p:nvSpPr>
        <p:spPr>
          <a:xfrm>
            <a:off x="992880" y="1064520"/>
            <a:ext cx="23461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Sistemas Operacionais (RTOS)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8"/>
          <p:cNvSpPr/>
          <p:nvPr/>
        </p:nvSpPr>
        <p:spPr>
          <a:xfrm>
            <a:off x="979920" y="1293480"/>
            <a:ext cx="54900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TinyOS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900000" y="1440000"/>
            <a:ext cx="755856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é um sistema operacional open-source, leve e orientado a eventos, projetado especificamente para dispositivos com recursos de hardware extremamente limitados, como nós sensores em Redes de Sensores sem Fio (WSNs-</a:t>
            </a: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Liberation Serif;Times New Roman"/>
                <a:ea typeface="NSimSun"/>
              </a:rPr>
              <a:t>wireless sensor network</a:t>
            </a: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) e IoT. Ele utiliza a linguagem </a:t>
            </a:r>
            <a:r>
              <a:rPr b="0" lang="pt-BR" sz="1500" strike="noStrike" u="none">
                <a:solidFill>
                  <a:srgbClr val="0563c1"/>
                </a:solidFill>
                <a:effectLst/>
                <a:uFillTx/>
                <a:latin typeface="Arial"/>
                <a:ea typeface="NSimSun"/>
                <a:hlinkClick r:id="rId3"/>
              </a:rPr>
              <a:t>nesC</a:t>
            </a: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 para compilar componentes reusáveis em um único binário, otimizando o consumo de memória e energia.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500" strike="noStrike" u="none">
                <a:solidFill>
                  <a:srgbClr val="ff0000"/>
                </a:solidFill>
                <a:effectLst/>
                <a:uFillTx/>
                <a:latin typeface="Arial"/>
                <a:ea typeface="NSimSun"/>
              </a:rPr>
              <a:t>Principais Características e Funcionalidades: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Modelo de Programação Orientado a Eventos:</a:t>
            </a: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 Diferente de sistemas convencionais, o TinyOS usa uma abordagem baseada em eventos e tarefas para lidar com concorrência sem o alto custo de múltiplas threads.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Arquitetura Baseada em Componentes:</a:t>
            </a:r>
            <a:r>
              <a:rPr b="0" lang="pt-BR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NSimSun"/>
              </a:rPr>
              <a:t> O sistema é estruturado por módulos e configurações, facilitando a modularidade e a integração com diferentes hardwares.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13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59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360000" y="1354680"/>
            <a:ext cx="8353440" cy="321300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1" name="Image 15" descr="preencoded.png"/>
          <p:cNvPicPr/>
          <p:nvPr/>
        </p:nvPicPr>
        <p:blipFill>
          <a:blip r:embed="rId2"/>
          <a:stretch/>
        </p:blipFill>
        <p:spPr>
          <a:xfrm>
            <a:off x="680760" y="1455480"/>
            <a:ext cx="21240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67"/>
          <p:cNvSpPr/>
          <p:nvPr/>
        </p:nvSpPr>
        <p:spPr>
          <a:xfrm>
            <a:off x="1038240" y="1460520"/>
            <a:ext cx="2183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Protocolos de Comunicação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1224000" y="1728000"/>
            <a:ext cx="6478920" cy="273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16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75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540000" y="1354680"/>
            <a:ext cx="8173440" cy="321300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7" name="Image 18" descr="preencoded.png"/>
          <p:cNvPicPr/>
          <p:nvPr/>
        </p:nvPicPr>
        <p:blipFill>
          <a:blip r:embed="rId2"/>
          <a:stretch/>
        </p:blipFill>
        <p:spPr>
          <a:xfrm>
            <a:off x="860760" y="1455480"/>
            <a:ext cx="21240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83"/>
          <p:cNvSpPr/>
          <p:nvPr/>
        </p:nvSpPr>
        <p:spPr>
          <a:xfrm>
            <a:off x="1182240" y="1460520"/>
            <a:ext cx="2183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Protocolos de Comunicação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>
            <a:off x="1376640" y="1677960"/>
            <a:ext cx="6650280" cy="28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 9" descr="preencoded.png"/>
          <p:cNvPicPr/>
          <p:nvPr/>
        </p:nvPicPr>
        <p:blipFill>
          <a:blip r:embed="rId4"/>
          <a:stretch/>
        </p:blipFill>
        <p:spPr>
          <a:xfrm>
            <a:off x="861120" y="1455480"/>
            <a:ext cx="212400" cy="16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 12" descr="preencoded.png"/>
          <p:cNvPicPr/>
          <p:nvPr/>
        </p:nvPicPr>
        <p:blipFill>
          <a:blip r:embed="rId5"/>
          <a:stretch/>
        </p:blipFill>
        <p:spPr>
          <a:xfrm>
            <a:off x="861120" y="1455480"/>
            <a:ext cx="212400" cy="16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14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26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360000" y="1354680"/>
            <a:ext cx="8353440" cy="321300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5" name="Image 17" descr="preencoded.png"/>
          <p:cNvPicPr/>
          <p:nvPr/>
        </p:nvPicPr>
        <p:blipFill>
          <a:blip r:embed="rId2"/>
          <a:stretch/>
        </p:blipFill>
        <p:spPr>
          <a:xfrm>
            <a:off x="572760" y="1491480"/>
            <a:ext cx="21240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31"/>
          <p:cNvSpPr/>
          <p:nvPr/>
        </p:nvSpPr>
        <p:spPr>
          <a:xfrm>
            <a:off x="858240" y="1460520"/>
            <a:ext cx="2183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Protocolos de Comunicação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1341000" y="1764000"/>
            <a:ext cx="6721920" cy="273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19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91"/>
          <p:cNvSpPr/>
          <p:nvPr/>
        </p:nvSpPr>
        <p:spPr>
          <a:xfrm>
            <a:off x="1924560" y="500760"/>
            <a:ext cx="5226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Software Open Source para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360000" y="1354680"/>
            <a:ext cx="8353440" cy="321300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1" name="Image 21" descr="preencoded.png"/>
          <p:cNvPicPr/>
          <p:nvPr/>
        </p:nvPicPr>
        <p:blipFill>
          <a:blip r:embed="rId2"/>
          <a:stretch/>
        </p:blipFill>
        <p:spPr>
          <a:xfrm>
            <a:off x="572760" y="1671480"/>
            <a:ext cx="21240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99"/>
          <p:cNvSpPr/>
          <p:nvPr/>
        </p:nvSpPr>
        <p:spPr>
          <a:xfrm>
            <a:off x="858240" y="1640520"/>
            <a:ext cx="2183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Protocolos de Comunicação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1368000" y="1908000"/>
            <a:ext cx="6334920" cy="251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0"/>
          <p:cNvSpPr/>
          <p:nvPr/>
        </p:nvSpPr>
        <p:spPr>
          <a:xfrm>
            <a:off x="1688760" y="428760"/>
            <a:ext cx="60919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Plataformas de Nuvem Open Source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285840" y="1137600"/>
            <a:ext cx="2760480" cy="35755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 r:embed="rId2"/>
          <a:stretch/>
        </p:blipFill>
        <p:spPr>
          <a:xfrm>
            <a:off x="1478880" y="1407240"/>
            <a:ext cx="35532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"/>
          <p:cNvSpPr/>
          <p:nvPr/>
        </p:nvSpPr>
        <p:spPr>
          <a:xfrm>
            <a:off x="500040" y="1884240"/>
            <a:ext cx="2312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ThingsBoard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0000" y="2160000"/>
            <a:ext cx="23126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Plataforma robusta para coleta, processamento, visualização e gerenciamento de dispositivos.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 É uma plataforma de IoT de código aberto (open-source) robusta, projetada para conectar, gerenciar e monitorar dispositivos, além de visualizar e processar dados em tempo real. Ela suporta protocolos como MQTT, CoAP e HTTP, sendo ideal para soluções em nuvem ou locais (on-premise). 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Principais destaques do ThingsBoard: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3171960" y="1137600"/>
            <a:ext cx="2769840" cy="35755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Image 2" descr="preencoded.png"/>
          <p:cNvPicPr/>
          <p:nvPr/>
        </p:nvPicPr>
        <p:blipFill>
          <a:blip r:embed="rId3"/>
          <a:stretch/>
        </p:blipFill>
        <p:spPr>
          <a:xfrm>
            <a:off x="4414680" y="1407240"/>
            <a:ext cx="28404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7"/>
          <p:cNvSpPr/>
          <p:nvPr/>
        </p:nvSpPr>
        <p:spPr>
          <a:xfrm>
            <a:off x="3395520" y="1884240"/>
            <a:ext cx="2322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TagoIO (Free)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3395520" y="2132640"/>
            <a:ext cx="23223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Oferece opções gratuitas ideais para o desenvolvimento e teste de projetos de IoT.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3395520" y="2467800"/>
            <a:ext cx="23223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</a:pPr>
            <a:r>
              <a:rPr b="1" lang="en-US" sz="1200" strike="noStrike" u="sng">
                <a:solidFill>
                  <a:srgbClr val="ffffff"/>
                </a:solidFill>
                <a:effectLst/>
                <a:highlight>
                  <a:srgbClr val="3465a4"/>
                </a:highlight>
                <a:uFillTx/>
                <a:latin typeface="Calibri"/>
                <a:ea typeface="DejaVu Sans"/>
              </a:rPr>
              <a:t>TagoIO</a:t>
            </a:r>
            <a:r>
              <a:rPr b="1" lang="en-US" sz="1200" strike="noStrike" u="none">
                <a:solidFill>
                  <a:srgbClr val="ffffff"/>
                </a:solidFill>
                <a:effectLst/>
                <a:highlight>
                  <a:srgbClr val="3465a4"/>
                </a:highlight>
                <a:uFillTx/>
                <a:latin typeface="Calibri"/>
                <a:ea typeface="DejaVu Sans"/>
              </a:rPr>
              <a:t> 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é uma plataforma de nuvem (IoT Cloud Platform) completa e de "full-stack" para a Internet das Coisas (IoT), que no seu plano gratuito (Free/Developer) permite conectar dispositivos, visualizar dados em painéis (dashboards), criar análises e configurar alertas. É ideal para desenvolvedores, estudantes e prototipagem rápida de projetos conectados, suportando protocolos como MQTT e HTTP. 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6076800" y="1137600"/>
            <a:ext cx="2779560" cy="35755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6" name="Image 3" descr="preencoded.png"/>
          <p:cNvPicPr/>
          <p:nvPr/>
        </p:nvPicPr>
        <p:blipFill>
          <a:blip r:embed="rId4"/>
          <a:stretch/>
        </p:blipFill>
        <p:spPr>
          <a:xfrm>
            <a:off x="7316280" y="1407240"/>
            <a:ext cx="31968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2"/>
          <p:cNvSpPr/>
          <p:nvPr/>
        </p:nvSpPr>
        <p:spPr>
          <a:xfrm>
            <a:off x="6310440" y="1884240"/>
            <a:ext cx="2331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Node-RED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6310440" y="2096640"/>
            <a:ext cx="23317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Node-RED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 é uma ferramenta de programação visual baseada em fluxos, focada em IoT (Internet das Coisas) e integração de APIs, serviços online e hardware (como Raspberry Pi). Utiliza uma interface </a:t>
            </a: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drag-and-drop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 (arrastar e soltar) no navegador para conectar blocos funcionais ("nodes"), facilitando a criação de automações sem necessidade de codificação intensiva. 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Excelente para prototipagem rápida e automação de fluxos de dados sem código complexo.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6310440" y="3511800"/>
            <a:ext cx="23317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0"/>
          <p:cNvSpPr/>
          <p:nvPr/>
        </p:nvSpPr>
        <p:spPr>
          <a:xfrm>
            <a:off x="1688040" y="428760"/>
            <a:ext cx="57672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Vantagens do Open Source em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714240" y="1209240"/>
            <a:ext cx="3713040" cy="16081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/>
          <a:stretch/>
        </p:blipFill>
        <p:spPr>
          <a:xfrm>
            <a:off x="843120" y="1383120"/>
            <a:ext cx="87480" cy="1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2"/>
          <p:cNvSpPr/>
          <p:nvPr/>
        </p:nvSpPr>
        <p:spPr>
          <a:xfrm>
            <a:off x="1039320" y="1337760"/>
            <a:ext cx="14835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Redução de Custos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843120" y="1678680"/>
            <a:ext cx="34556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Eliminação de taxas de licenciamento proprietário e redução drástica nos custos de P&amp;D através do uso de designs e códigos já validados pela comunidade.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4714920" y="1209240"/>
            <a:ext cx="3713040" cy="16081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Image 2" descr="preencoded.png"/>
          <p:cNvPicPr/>
          <p:nvPr/>
        </p:nvPicPr>
        <p:blipFill>
          <a:blip r:embed="rId3"/>
          <a:stretch/>
        </p:blipFill>
        <p:spPr>
          <a:xfrm>
            <a:off x="4843440" y="1383120"/>
            <a:ext cx="176760" cy="1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6"/>
          <p:cNvSpPr/>
          <p:nvPr/>
        </p:nvSpPr>
        <p:spPr>
          <a:xfrm>
            <a:off x="5129280" y="1337760"/>
            <a:ext cx="14266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Flexibilidade Total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4843440" y="1678680"/>
            <a:ext cx="34556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Capacidade de modificar e adaptar hardware e software às necessidades específicas do projeto, sem ficar preso a ecossistemas fechados de fornecedores.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714240" y="3105000"/>
            <a:ext cx="3713040" cy="16081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1" name="Image 3" descr="preencoded.png"/>
          <p:cNvPicPr/>
          <p:nvPr/>
        </p:nvPicPr>
        <p:blipFill>
          <a:blip r:embed="rId4"/>
          <a:stretch/>
        </p:blipFill>
        <p:spPr>
          <a:xfrm>
            <a:off x="843120" y="3278880"/>
            <a:ext cx="176760" cy="1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0"/>
          <p:cNvSpPr/>
          <p:nvPr/>
        </p:nvSpPr>
        <p:spPr>
          <a:xfrm>
            <a:off x="1128600" y="3233520"/>
            <a:ext cx="1180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Suporte Global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843120" y="3574440"/>
            <a:ext cx="34556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Acesso a uma vasta rede de desenvolvedores que compartilham conhecimento, corrigem bugs e criam novas funcionalidades de forma colaborativa.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4714920" y="3105000"/>
            <a:ext cx="3713040" cy="1608120"/>
          </a:xfrm>
          <a:prstGeom prst="rect">
            <a:avLst/>
          </a:prstGeom>
          <a:solidFill>
            <a:srgbClr val="0b0e14">
              <a:alpha val="90000"/>
            </a:srgbClr>
          </a:solidFill>
          <a:ln w="1836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Image 4" descr="preencoded.png"/>
          <p:cNvPicPr/>
          <p:nvPr/>
        </p:nvPicPr>
        <p:blipFill>
          <a:blip r:embed="rId5"/>
          <a:stretch/>
        </p:blipFill>
        <p:spPr>
          <a:xfrm>
            <a:off x="4843440" y="3278880"/>
            <a:ext cx="158760" cy="1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4"/>
          <p:cNvSpPr/>
          <p:nvPr/>
        </p:nvSpPr>
        <p:spPr>
          <a:xfrm>
            <a:off x="5111280" y="3233520"/>
            <a:ext cx="2093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Transparência e Segurança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4843440" y="3574440"/>
            <a:ext cx="34556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 código aberto permite auditorias de segurança independentes e maior clareza sobre o funcionamento interno dos sistemas, mitigando riscos ocultos.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0"/>
          <p:cNvSpPr/>
          <p:nvPr/>
        </p:nvSpPr>
        <p:spPr>
          <a:xfrm>
            <a:off x="1616760" y="285840"/>
            <a:ext cx="597168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Exercício Prático: Arduino vs. ESP32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428760" y="1401840"/>
            <a:ext cx="8285040" cy="1869840"/>
          </a:xfrm>
          <a:prstGeom prst="rect">
            <a:avLst/>
          </a:prstGeom>
          <a:solidFill>
            <a:srgbClr val="0b0e14">
              <a:alpha val="80000"/>
            </a:srgbClr>
          </a:solidFill>
          <a:ln w="900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432360" y="1405440"/>
            <a:ext cx="2449440" cy="308880"/>
          </a:xfrm>
          <a:prstGeom prst="rect">
            <a:avLst/>
          </a:prstGeom>
          <a:solidFill>
            <a:srgbClr val="00d2ff">
              <a:alpha val="10000"/>
            </a:srgbClr>
          </a:solidFill>
          <a:ln w="900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432360" y="1516680"/>
            <a:ext cx="24494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57960" bIns="5796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Característica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2883240" y="1405440"/>
            <a:ext cx="3169440" cy="308880"/>
          </a:xfrm>
          <a:prstGeom prst="rect">
            <a:avLst/>
          </a:prstGeom>
          <a:solidFill>
            <a:srgbClr val="00d2ff">
              <a:alpha val="10000"/>
            </a:srgbClr>
          </a:solidFill>
          <a:ln w="900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2883240" y="1516680"/>
            <a:ext cx="31694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57960" bIns="5796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Arduino Uno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6054840" y="1405440"/>
            <a:ext cx="2655360" cy="308880"/>
          </a:xfrm>
          <a:prstGeom prst="rect">
            <a:avLst/>
          </a:prstGeom>
          <a:solidFill>
            <a:srgbClr val="00d2ff">
              <a:alpha val="10000"/>
            </a:srgbClr>
          </a:solidFill>
          <a:ln w="9000">
            <a:solidFill>
              <a:srgbClr val="00d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6054840" y="1516680"/>
            <a:ext cx="265536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57960" bIns="5796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d2ff"/>
                </a:solidFill>
                <a:effectLst/>
                <a:uFillTx/>
                <a:latin typeface="Calibri"/>
                <a:ea typeface="DejaVu Sans"/>
              </a:rPr>
              <a:t>ESP32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432360" y="2023560"/>
            <a:ext cx="8277840" cy="308880"/>
          </a:xfrm>
          <a:prstGeom prst="rect">
            <a:avLst/>
          </a:prstGeom>
          <a:solidFill>
            <a:srgbClr val="ffffff">
              <a:alpha val="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" name="Shape 18"/>
          <p:cNvSpPr/>
          <p:nvPr/>
        </p:nvSpPr>
        <p:spPr>
          <a:xfrm>
            <a:off x="432360" y="2644920"/>
            <a:ext cx="8277840" cy="308880"/>
          </a:xfrm>
          <a:prstGeom prst="rect">
            <a:avLst/>
          </a:prstGeom>
          <a:solidFill>
            <a:srgbClr val="ffffff">
              <a:alpha val="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Shape 25"/>
          <p:cNvSpPr/>
          <p:nvPr/>
        </p:nvSpPr>
        <p:spPr>
          <a:xfrm>
            <a:off x="428760" y="3484440"/>
            <a:ext cx="8285040" cy="830520"/>
          </a:xfrm>
          <a:prstGeom prst="rect">
            <a:avLst/>
          </a:prstGeom>
          <a:solidFill>
            <a:srgbClr val="00ff41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" name="Shape 26"/>
          <p:cNvSpPr/>
          <p:nvPr/>
        </p:nvSpPr>
        <p:spPr>
          <a:xfrm>
            <a:off x="428760" y="3484440"/>
            <a:ext cx="26640" cy="830520"/>
          </a:xfrm>
          <a:prstGeom prst="rect">
            <a:avLst/>
          </a:prstGeom>
          <a:solidFill>
            <a:srgbClr val="00ff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Text 27"/>
          <p:cNvSpPr/>
          <p:nvPr/>
        </p:nvSpPr>
        <p:spPr>
          <a:xfrm>
            <a:off x="571680" y="3519360"/>
            <a:ext cx="2652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Veredito para Projeto IoT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571680" y="3765600"/>
            <a:ext cx="7999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Para monitoramento de temperatura via Wi-Fi, o </a:t>
            </a: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alibri"/>
                <a:ea typeface="DejaVu Sans"/>
              </a:rPr>
              <a:t>ESP32 é a escolha superior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. Sua conectividade nativa simplifica o hardware, reduz custos e o maior poder de processamento lida com protocolos de rede (como MQTT) de forma muito mais eficiente que o Arduino Uno.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Application>LibreOffice/25.2.7.2$Windows_X86_64 LibreOffice_project/5cbfd1ab6520636bb5f7b99185aa69bd7456825d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2026-02-20T20:41:14Z</dcterms:created>
  <dc:creator>PptxGenJS</dc:creator>
  <dc:description/>
  <dc:language>pt-BR</dc:language>
  <cp:lastModifiedBy/>
  <dcterms:modified xsi:type="dcterms:W3CDTF">2026-03-01T12:26:30Z</dcterms:modified>
  <cp:revision>21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