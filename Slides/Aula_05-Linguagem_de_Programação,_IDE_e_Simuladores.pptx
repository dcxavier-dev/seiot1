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1.jpeg" ContentType="image/jpeg"/>
  <Override PartName="/ppt/media/image3.png" ContentType="image/png"/>
  <Override PartName="/ppt/media/image2.jpeg" ContentType="image/jpeg"/>
  <Override PartName="/ppt/media/image8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jpeg" ContentType="image/jpeg"/>
  <Override PartName="/ppt/media/image10.png" ContentType="image/png"/>
  <Override PartName="/ppt/media/image11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854B26E-9916-422E-99BF-3438C8F7B40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2D0AFE-3A02-418A-AAA6-9A3A0E8BB89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5D4357-BDA6-400A-B8D8-ED769B57E4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F4124C-4391-4EEB-88FF-BD3B49C23BD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95731E-47DA-446D-A5E9-C7BA625156F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820889-F4A8-4018-A5CE-FB539690AD1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A3800C-2F77-48F0-8DA3-71E023EC872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259ABF-C955-482C-A83F-4CF25D42EE5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1000080" y="828000"/>
            <a:ext cx="7143480" cy="348696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1000080" y="835200"/>
            <a:ext cx="7143480" cy="278280"/>
          </a:xfrm>
          <a:prstGeom prst="rect">
            <a:avLst/>
          </a:prstGeom>
          <a:solidFill>
            <a:srgbClr val="3232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714680" y="906480"/>
            <a:ext cx="2136960" cy="1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858585"/>
                </a:solidFill>
                <a:effectLst/>
                <a:uFillTx/>
                <a:latin typeface="Calibri"/>
              </a:rPr>
              <a:t>aula_05_iot_programming.cpp — Arduino IDE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1428840" y="1542240"/>
            <a:ext cx="6286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i="1" lang="en-US" sz="839" strike="noStrike" u="none">
                <a:solidFill>
                  <a:srgbClr val="6a9955"/>
                </a:solidFill>
                <a:effectLst/>
                <a:uFillTx/>
                <a:latin typeface="Calibri"/>
              </a:rPr>
              <a:t>// Módulo Final: Programação e Simulação</a:t>
            </a:r>
            <a:endParaRPr b="0" lang="pt-BR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1428840" y="1697760"/>
            <a:ext cx="62863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276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class</a:t>
            </a:r>
            <a:r>
              <a:rPr b="1" lang="en-US" sz="276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 IoT_Final_Module {</a:t>
            </a:r>
            <a:endParaRPr b="0" lang="pt-BR" sz="2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428840" y="2374920"/>
            <a:ext cx="6286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49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public</a:t>
            </a:r>
            <a:r>
              <a:rPr b="0" lang="en-US" sz="1490" strike="noStrike" u="none">
                <a:solidFill>
                  <a:srgbClr val="ce9178"/>
                </a:solidFill>
                <a:effectLst/>
                <a:uFillTx/>
                <a:latin typeface="Calibri"/>
              </a:rPr>
              <a:t>: </a:t>
            </a:r>
            <a:r>
              <a:rPr b="0" lang="en-US" sz="1490" strike="noStrike" u="none">
                <a:solidFill>
                  <a:srgbClr val="dcdcaa"/>
                </a:solidFill>
                <a:effectLst/>
                <a:uFillTx/>
                <a:latin typeface="Calibri"/>
              </a:rPr>
              <a:t>Linguagem_IDE_Simuladores</a:t>
            </a:r>
            <a:r>
              <a:rPr b="0" lang="en-US" sz="1490" strike="noStrike" u="none">
                <a:solidFill>
                  <a:srgbClr val="ce9178"/>
                </a:solidFill>
                <a:effectLst/>
                <a:uFillTx/>
                <a:latin typeface="Calibri"/>
              </a:rPr>
              <a:t>();</a:t>
            </a:r>
            <a:endParaRPr b="0" lang="pt-BR" sz="14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1428840" y="2791080"/>
            <a:ext cx="5714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d4d4d4">
                    <a:alpha val="80000"/>
                  </a:srgbClr>
                </a:solidFill>
                <a:effectLst/>
                <a:uFillTx/>
                <a:latin typeface="Calibri"/>
              </a:rPr>
              <a:t>Finalizando a jornada: aprenda a escrever o código que dá vida ao hardware, onde compilá-lo e como testar seus projetos virtualmente antes da montagem física.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428840" y="3202560"/>
            <a:ext cx="62863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276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};</a:t>
            </a:r>
            <a:endParaRPr b="0" lang="pt-BR" sz="2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0"/>
          <p:cNvSpPr/>
          <p:nvPr/>
        </p:nvSpPr>
        <p:spPr>
          <a:xfrm>
            <a:off x="428760" y="428760"/>
            <a:ext cx="55630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212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A Linguagem C/C++ para Embarcados</a:t>
            </a:r>
            <a:endParaRPr b="0" lang="pt-BR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428760" y="1260000"/>
            <a:ext cx="4000320" cy="360000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685800" y="1453680"/>
            <a:ext cx="12189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Por que C/C++?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685800" y="1800000"/>
            <a:ext cx="347868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/>
            <a:r>
              <a:rPr b="0" lang="en-US" sz="839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•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Eficiência: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Controle direto sobre o hardware e a memória.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/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•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Velocidade: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Código compilado para execução rápida em microcontroladores.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•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Padrão: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Linguagem mais utilizada no mundo de sistemas embarcados.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685800" y="3175560"/>
            <a:ext cx="34786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Conceitos essenciais: </a:t>
            </a:r>
            <a:r>
              <a:rPr b="0" lang="en-US" sz="150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int</a:t>
            </a: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, </a:t>
            </a:r>
            <a:r>
              <a:rPr b="0" lang="en-US" sz="150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float</a:t>
            </a: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, </a:t>
            </a:r>
            <a:r>
              <a:rPr b="0" lang="en-US" sz="150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bool</a:t>
            </a: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, </a:t>
            </a:r>
            <a:r>
              <a:rPr b="0" lang="en-US" sz="150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void</a:t>
            </a: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 e o uso de </a:t>
            </a:r>
            <a:r>
              <a:rPr b="0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#define</a:t>
            </a: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 para pinos.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4707720" y="1260000"/>
            <a:ext cx="4007160" cy="360000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4971960" y="1468440"/>
            <a:ext cx="14821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Estrutura Essencial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4971960" y="2061000"/>
            <a:ext cx="3485880" cy="254376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5040000" y="1851120"/>
            <a:ext cx="2953080" cy="27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8a202"/>
                </a:solidFill>
                <a:effectLst/>
                <a:uFillTx/>
                <a:latin typeface="Calibri"/>
              </a:rPr>
              <a:t>Void </a:t>
            </a:r>
            <a:r>
              <a:rPr b="0" lang="en-US" sz="1500" strike="noStrike" u="none">
                <a:solidFill>
                  <a:srgbClr val="ffd428"/>
                </a:solidFill>
                <a:effectLst/>
                <a:uFillTx/>
                <a:latin typeface="Calibri"/>
              </a:rPr>
              <a:t>Setup(</a:t>
            </a:r>
            <a:r>
              <a:rPr b="0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)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{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5eb91e"/>
                </a:solidFill>
                <a:effectLst/>
                <a:uFillTx/>
                <a:latin typeface="Calibri"/>
              </a:rPr>
              <a:t>//Executa uma única vez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d428"/>
                </a:solidFill>
                <a:effectLst/>
                <a:uFillTx/>
                <a:latin typeface="Calibri"/>
              </a:rPr>
              <a:t>PinMode</a:t>
            </a:r>
            <a:r>
              <a:rPr b="0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(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13, OUTPUT</a:t>
            </a:r>
            <a:r>
              <a:rPr b="0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}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8a202"/>
                </a:solidFill>
                <a:effectLst/>
                <a:uFillTx/>
                <a:latin typeface="Calibri"/>
              </a:rPr>
              <a:t>Void loop()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{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5eb91e"/>
                </a:solidFill>
                <a:effectLst/>
                <a:uFillTx/>
                <a:latin typeface="Calibri"/>
              </a:rPr>
              <a:t>//Executa repetidamente para sempre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8a202"/>
                </a:solidFill>
                <a:effectLst/>
                <a:uFillTx/>
                <a:latin typeface="Calibri"/>
              </a:rPr>
              <a:t>DigitalWrite(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13,HIGH</a:t>
            </a:r>
            <a:r>
              <a:rPr b="0" lang="en-US" sz="1500" strike="noStrike" u="none">
                <a:solidFill>
                  <a:srgbClr val="e8a202"/>
                </a:solidFill>
                <a:effectLst/>
                <a:uFillTx/>
                <a:latin typeface="Calibri"/>
              </a:rPr>
              <a:t>)</a:t>
            </a:r>
            <a:r>
              <a:rPr b="0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;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8a202"/>
                </a:solidFill>
                <a:effectLst/>
                <a:uFillTx/>
                <a:latin typeface="Calibri"/>
              </a:rPr>
              <a:t>Dealay(</a:t>
            </a:r>
            <a:r>
              <a:rPr b="0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100</a:t>
            </a:r>
            <a:r>
              <a:rPr b="0" lang="en-US" sz="1500" strike="noStrike" u="none">
                <a:solidFill>
                  <a:srgbClr val="e8a202"/>
                </a:solidFill>
                <a:effectLst/>
                <a:uFillTx/>
                <a:latin typeface="Calibri"/>
              </a:rPr>
              <a:t>)</a:t>
            </a:r>
            <a:r>
              <a:rPr b="0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;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}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0"/>
          <p:cNvSpPr/>
          <p:nvPr/>
        </p:nvSpPr>
        <p:spPr>
          <a:xfrm>
            <a:off x="428760" y="428760"/>
            <a:ext cx="576396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212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Lógica de Programação e Fluxogramas</a:t>
            </a:r>
            <a:endParaRPr b="0" lang="pt-BR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428760" y="1354680"/>
            <a:ext cx="4000320" cy="321444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714240" y="1470240"/>
            <a:ext cx="17038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Estruturas de Decisão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714240" y="1774800"/>
            <a:ext cx="34214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Permitem que o microcontrolador tome decisões baseadas em condições, como o valor de um sensor.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678240" y="2463480"/>
            <a:ext cx="3421440" cy="185364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13160" y="2561040"/>
            <a:ext cx="1852200" cy="16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if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(valor &gt;500){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US" sz="1500" strike="noStrike" u="none">
                <a:solidFill>
                  <a:srgbClr val="ffff38"/>
                </a:solidFill>
                <a:effectLst/>
                <a:uFillTx/>
                <a:latin typeface="Calibri"/>
              </a:rPr>
              <a:t>digitalWrite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(LED,HIGH);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}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US" sz="15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else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{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0" lang="en-US" sz="1500" strike="noStrike" u="none">
                <a:solidFill>
                  <a:srgbClr val="ffff38"/>
                </a:solidFill>
                <a:effectLst/>
                <a:uFillTx/>
                <a:latin typeface="Calibri"/>
              </a:rPr>
              <a:t>digitalWrite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(LED,LOW)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}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4707720" y="1354680"/>
            <a:ext cx="4007160" cy="321444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5000760" y="1431720"/>
            <a:ext cx="14990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Repetição e Tempo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5000760" y="1736280"/>
            <a:ext cx="342864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Controlam a execução de tarefas repetitivas e o tempo de espera entre ações.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0"/>
          <p:cNvSpPr/>
          <p:nvPr/>
        </p:nvSpPr>
        <p:spPr>
          <a:xfrm>
            <a:off x="5000760" y="2160000"/>
            <a:ext cx="3428640" cy="189972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5035680" y="2251080"/>
            <a:ext cx="1890000" cy="97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586c0"/>
                </a:solidFill>
                <a:effectLst/>
                <a:uFillTx/>
                <a:latin typeface="Calibri"/>
              </a:rPr>
              <a:t>For (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int I =0; I &lt; 10; i++</a:t>
            </a:r>
            <a:r>
              <a:rPr b="0" lang="en-US" sz="1500" strike="noStrike" u="none">
                <a:solidFill>
                  <a:srgbClr val="c586c0"/>
                </a:solidFill>
                <a:effectLst/>
                <a:uFillTx/>
                <a:latin typeface="Calibri"/>
              </a:rPr>
              <a:t>) {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586c0"/>
                </a:solidFill>
                <a:effectLst/>
                <a:uFillTx/>
                <a:latin typeface="Calibri"/>
              </a:rPr>
              <a:t>FazerAlgo();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586c0"/>
                </a:solidFill>
                <a:effectLst/>
                <a:uFillTx/>
                <a:latin typeface="Calibri"/>
              </a:rPr>
              <a:t>}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586c0"/>
                </a:solidFill>
                <a:effectLst/>
                <a:uFillTx/>
                <a:latin typeface="Calibri"/>
              </a:rPr>
              <a:t>Delay(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500</a:t>
            </a:r>
            <a:r>
              <a:rPr b="0" lang="en-US" sz="1500" strike="noStrike" u="none">
                <a:solidFill>
                  <a:srgbClr val="c586c0"/>
                </a:solidFill>
                <a:effectLst/>
                <a:uFillTx/>
                <a:latin typeface="Calibri"/>
              </a:rPr>
              <a:t>);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5842440" y="3079800"/>
            <a:ext cx="4320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5143680" y="3770640"/>
            <a:ext cx="11545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a9955"/>
                </a:solidFill>
                <a:effectLst/>
                <a:uFillTx/>
                <a:latin typeface="Calibri"/>
              </a:rPr>
              <a:t>// Pausa de 500ms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0"/>
          <p:cNvSpPr/>
          <p:nvPr/>
        </p:nvSpPr>
        <p:spPr>
          <a:xfrm>
            <a:off x="571680" y="428760"/>
            <a:ext cx="381312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212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Explorando a Arduino IDE</a:t>
            </a:r>
            <a:endParaRPr b="0" lang="pt-BR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571680" y="1152000"/>
            <a:ext cx="3957120" cy="177768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1" descr="preencoded.png"/>
          <p:cNvPicPr/>
          <p:nvPr/>
        </p:nvPicPr>
        <p:blipFill>
          <a:blip r:embed="rId2"/>
          <a:stretch/>
        </p:blipFill>
        <p:spPr>
          <a:xfrm>
            <a:off x="685800" y="13107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2"/>
          <p:cNvSpPr/>
          <p:nvPr/>
        </p:nvSpPr>
        <p:spPr>
          <a:xfrm>
            <a:off x="685800" y="1664640"/>
            <a:ext cx="1300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e9178"/>
                </a:solidFill>
                <a:effectLst/>
                <a:uFillTx/>
                <a:latin typeface="Calibri"/>
              </a:rPr>
              <a:t>Editor de Código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685800" y="1936080"/>
            <a:ext cx="372852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Onde o código (Sketch) é escrito, com realce de sintaxe e ferramentas de auto-completar para facilitar o desenvolvimento.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4"/>
          <p:cNvSpPr/>
          <p:nvPr/>
        </p:nvSpPr>
        <p:spPr>
          <a:xfrm>
            <a:off x="4614840" y="1152000"/>
            <a:ext cx="3957120" cy="177768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2" descr="preencoded.png"/>
          <p:cNvPicPr/>
          <p:nvPr/>
        </p:nvPicPr>
        <p:blipFill>
          <a:blip r:embed="rId3"/>
          <a:stretch/>
        </p:blipFill>
        <p:spPr>
          <a:xfrm>
            <a:off x="4729320" y="1310760"/>
            <a:ext cx="19980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5"/>
          <p:cNvSpPr/>
          <p:nvPr/>
        </p:nvSpPr>
        <p:spPr>
          <a:xfrm>
            <a:off x="4729320" y="1664640"/>
            <a:ext cx="21182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e9178"/>
                </a:solidFill>
                <a:effectLst/>
                <a:uFillTx/>
                <a:latin typeface="Calibri"/>
              </a:rPr>
              <a:t>Gerenciador de Bibliotecas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729320" y="1936080"/>
            <a:ext cx="372852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Permite adicionar códigos pré-escritos para facilitar a integração com diversos sensores, atuadores e módulos de comunicação.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571680" y="3015720"/>
            <a:ext cx="3957120" cy="177768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3" descr="preencoded.png"/>
          <p:cNvPicPr/>
          <p:nvPr/>
        </p:nvPicPr>
        <p:blipFill>
          <a:blip r:embed="rId4"/>
          <a:stretch/>
        </p:blipFill>
        <p:spPr>
          <a:xfrm>
            <a:off x="685800" y="3174480"/>
            <a:ext cx="2566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8"/>
          <p:cNvSpPr/>
          <p:nvPr/>
        </p:nvSpPr>
        <p:spPr>
          <a:xfrm>
            <a:off x="685800" y="3528000"/>
            <a:ext cx="11365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e9178"/>
                </a:solidFill>
                <a:effectLst/>
                <a:uFillTx/>
                <a:latin typeface="Calibri"/>
              </a:rPr>
              <a:t>Monitor Serial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685800" y="3799440"/>
            <a:ext cx="3728520" cy="6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Ferramenta essencial para depuração, permitindo visualizar dados enviados pelo microcontrolador em tempo real no computador.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4614840" y="3015720"/>
            <a:ext cx="3957120" cy="177768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4" descr="preencoded.png"/>
          <p:cNvPicPr/>
          <p:nvPr/>
        </p:nvPicPr>
        <p:blipFill>
          <a:blip r:embed="rId5"/>
          <a:stretch/>
        </p:blipFill>
        <p:spPr>
          <a:xfrm>
            <a:off x="4729320" y="31744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11"/>
          <p:cNvSpPr/>
          <p:nvPr/>
        </p:nvSpPr>
        <p:spPr>
          <a:xfrm>
            <a:off x="4729320" y="3528000"/>
            <a:ext cx="1555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e9178"/>
                </a:solidFill>
                <a:effectLst/>
                <a:uFillTx/>
                <a:latin typeface="Calibri"/>
              </a:rPr>
              <a:t>Processo de Upload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4729320" y="3799440"/>
            <a:ext cx="372852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 código é verificado (compilado) e enviado via USB para a memória flash do microcontrolador para execução imediata.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0" y="4793400"/>
            <a:ext cx="91436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0" rIns="0" tIns="83160" bIns="324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3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A Ferramenta Principal do Desenvolvedor IoT</a:t>
            </a:r>
            <a:endParaRPr b="0" lang="pt-B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0"/>
          <p:cNvSpPr/>
          <p:nvPr/>
        </p:nvSpPr>
        <p:spPr>
          <a:xfrm>
            <a:off x="428760" y="428760"/>
            <a:ext cx="630900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212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Alternativas: MicroPython e CircuitPython</a:t>
            </a:r>
            <a:endParaRPr b="0" lang="pt-BR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428760" y="1094760"/>
            <a:ext cx="4057200" cy="250524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600120" y="1266120"/>
            <a:ext cx="17578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A Ascensão do Python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600120" y="1585800"/>
            <a:ext cx="370728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/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•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Facilidade: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Sintaxe limpa e legível, ideal para prototipagem rápida.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/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•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Interatividade: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Uso do REPL para testar comandos em tempo real no hardware.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•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Ecossistema: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Grande quantidade de bibliotecas prontas para sensores e IoT.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600120" y="2981880"/>
            <a:ext cx="370728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MicroPython e CircuitPython trazem o poder do Python para chips como ESP32 e RP2040.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4650480" y="1094760"/>
            <a:ext cx="4064400" cy="251244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4829040" y="1266120"/>
            <a:ext cx="37144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Exemplo em MicroPython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4829040" y="1585800"/>
            <a:ext cx="3714480" cy="183564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4829040" y="1585800"/>
            <a:ext cx="3714480" cy="18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102240" bIns="102240" anchor="t">
            <a:spAutoFit/>
          </a:bodyPr>
          <a:p>
            <a:pPr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from machine import Pin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import time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led = Pin(2, Pin.OUT)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while True: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    led.value(1)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    time.sleep(1)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    led.value(0)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    time.sleep(1)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0"/>
          <p:cNvSpPr/>
          <p:nvPr/>
        </p:nvSpPr>
        <p:spPr>
          <a:xfrm>
            <a:off x="428760" y="428760"/>
            <a:ext cx="590724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212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Simuladores Online: Wokwi e Tinkercad</a:t>
            </a:r>
            <a:endParaRPr b="0" lang="pt-BR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428760" y="1354680"/>
            <a:ext cx="4000320" cy="321444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1" descr="preencoded.png"/>
          <p:cNvPicPr/>
          <p:nvPr/>
        </p:nvPicPr>
        <p:blipFill>
          <a:blip r:embed="rId2"/>
          <a:stretch/>
        </p:blipFill>
        <p:spPr>
          <a:xfrm>
            <a:off x="714240" y="1671480"/>
            <a:ext cx="1926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2"/>
          <p:cNvSpPr/>
          <p:nvPr/>
        </p:nvSpPr>
        <p:spPr>
          <a:xfrm>
            <a:off x="1014480" y="1640520"/>
            <a:ext cx="13917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Tinkercad Circuits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714240" y="2053080"/>
            <a:ext cx="34214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Plataforma visual intuitiva da Autodesk, ideal para iniciantes aprenderem eletrônica básica e Arduino.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714240" y="2705400"/>
            <a:ext cx="34214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Permite arrastar e soltar componentes reais em uma protoboard virtual e simular o comportamento do circuito.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714240" y="4033440"/>
            <a:ext cx="34214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1320" bIns="-576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ce9178"/>
                </a:solidFill>
                <a:effectLst/>
                <a:uFillTx/>
                <a:latin typeface="Calibri"/>
              </a:rPr>
              <a:t>// IDEAL PARA: APRENDIZADO INICIAL</a:t>
            </a:r>
            <a:endParaRPr b="0" lang="pt-B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4707720" y="1354680"/>
            <a:ext cx="4007160" cy="321444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2" descr="preencoded.png"/>
          <p:cNvPicPr/>
          <p:nvPr/>
        </p:nvPicPr>
        <p:blipFill>
          <a:blip r:embed="rId3"/>
          <a:stretch/>
        </p:blipFill>
        <p:spPr>
          <a:xfrm>
            <a:off x="5000760" y="167148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7"/>
          <p:cNvSpPr/>
          <p:nvPr/>
        </p:nvSpPr>
        <p:spPr>
          <a:xfrm>
            <a:off x="5279400" y="1640520"/>
            <a:ext cx="13582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Wokwi Simulator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5000760" y="2053080"/>
            <a:ext cx="34286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Simulador moderno e extremamente rápido que suporta Arduino, ESP32, Raspberry Pi Pico e MicroPython.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5000760" y="2705400"/>
            <a:ext cx="34286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Focado em desenvolvedores, permite simular redes Wi-Fi, sensores complexos e depuração de código avançada.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5000760" y="4033440"/>
            <a:ext cx="3428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1320" bIns="-576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ce9178"/>
                </a:solidFill>
                <a:effectLst/>
                <a:uFillTx/>
                <a:latin typeface="Calibri"/>
              </a:rPr>
              <a:t>// IDEAL PARA: PROJETOS IOT AVANÇADOS</a:t>
            </a:r>
            <a:endParaRPr b="0" lang="pt-B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0"/>
          <p:cNvSpPr/>
          <p:nvPr/>
        </p:nvSpPr>
        <p:spPr>
          <a:xfrm>
            <a:off x="428760" y="285840"/>
            <a:ext cx="441936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Exercício Prático Resolvido - Aula 5</a:t>
            </a:r>
            <a:endParaRPr b="0" lang="pt-BR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"/>
          <p:cNvSpPr/>
          <p:nvPr/>
        </p:nvSpPr>
        <p:spPr>
          <a:xfrm>
            <a:off x="428760" y="864360"/>
            <a:ext cx="4368960" cy="399312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1" descr="preencoded.png"/>
          <p:cNvPicPr/>
          <p:nvPr/>
        </p:nvPicPr>
        <p:blipFill>
          <a:blip r:embed="rId2"/>
          <a:stretch/>
        </p:blipFill>
        <p:spPr>
          <a:xfrm>
            <a:off x="607320" y="1066320"/>
            <a:ext cx="16020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2"/>
          <p:cNvSpPr/>
          <p:nvPr/>
        </p:nvSpPr>
        <p:spPr>
          <a:xfrm>
            <a:off x="839520" y="1042920"/>
            <a:ext cx="17211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Sketch: Blink + Sensor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607320" y="1325160"/>
            <a:ext cx="4005360" cy="335376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714240" y="1648440"/>
            <a:ext cx="2356200" cy="25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#define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LED_PIN 13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#define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SENSOR_PIN 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A0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00"/>
                </a:solidFill>
                <a:effectLst/>
                <a:uFillTx/>
                <a:latin typeface="Calibri"/>
              </a:rPr>
              <a:t>void setup()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{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00"/>
                </a:solidFill>
                <a:effectLst/>
                <a:uFillTx/>
                <a:latin typeface="Calibri"/>
              </a:rPr>
              <a:t>Serial.begin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(9600);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00"/>
                </a:solidFill>
                <a:effectLst/>
                <a:uFillTx/>
                <a:latin typeface="Calibri"/>
              </a:rPr>
              <a:t>pinMode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(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LED_PIN, OUTPUT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}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00"/>
                </a:solidFill>
                <a:effectLst/>
                <a:uFillTx/>
                <a:latin typeface="Calibri"/>
              </a:rPr>
              <a:t>void loop()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{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Int leitura= </a:t>
            </a:r>
            <a:r>
              <a:rPr b="0" lang="en-US" sz="1200" strike="noStrike" u="none">
                <a:solidFill>
                  <a:srgbClr val="ffff00"/>
                </a:solidFill>
                <a:effectLst/>
                <a:uFillTx/>
                <a:latin typeface="Calibri"/>
              </a:rPr>
              <a:t>analogRead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(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SENSOR_PIN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Serial.pintln(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leitura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00"/>
                </a:solidFill>
                <a:effectLst/>
                <a:uFillTx/>
                <a:latin typeface="Calibri"/>
              </a:rPr>
              <a:t>digitalWrite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(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LED_PIN,HIGH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00"/>
                </a:solidFill>
                <a:effectLst/>
                <a:uFillTx/>
                <a:latin typeface="Calibri"/>
              </a:rPr>
              <a:t>delay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(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500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00"/>
                </a:solidFill>
                <a:effectLst/>
                <a:uFillTx/>
                <a:latin typeface="Calibri"/>
              </a:rPr>
              <a:t>digitalWrite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(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LED_PIN,LOW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):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76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00"/>
                </a:solidFill>
                <a:effectLst/>
                <a:uFillTx/>
                <a:latin typeface="Calibri"/>
              </a:rPr>
              <a:t>delay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(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500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8"/>
          <p:cNvSpPr/>
          <p:nvPr/>
        </p:nvSpPr>
        <p:spPr>
          <a:xfrm>
            <a:off x="5005800" y="864360"/>
            <a:ext cx="3709080" cy="399312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2" descr="preencoded.png"/>
          <p:cNvPicPr/>
          <p:nvPr/>
        </p:nvPicPr>
        <p:blipFill>
          <a:blip r:embed="rId3"/>
          <a:stretch/>
        </p:blipFill>
        <p:spPr>
          <a:xfrm>
            <a:off x="5192280" y="1066320"/>
            <a:ext cx="12816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39"/>
          <p:cNvSpPr/>
          <p:nvPr/>
        </p:nvSpPr>
        <p:spPr>
          <a:xfrm>
            <a:off x="5392080" y="1042920"/>
            <a:ext cx="14112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569cd6"/>
                </a:solidFill>
                <a:effectLst/>
                <a:uFillTx/>
                <a:latin typeface="Calibri"/>
              </a:rPr>
              <a:t>Análise do Código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5192280" y="1360440"/>
            <a:ext cx="568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&gt;</a:t>
            </a:r>
            <a:endParaRPr b="0" lang="pt-B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1"/>
          <p:cNvSpPr/>
          <p:nvPr/>
        </p:nvSpPr>
        <p:spPr>
          <a:xfrm>
            <a:off x="5334840" y="1403640"/>
            <a:ext cx="874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Definições: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2"/>
          <p:cNvSpPr/>
          <p:nvPr/>
        </p:nvSpPr>
        <p:spPr>
          <a:xfrm>
            <a:off x="5328000" y="1555560"/>
            <a:ext cx="285552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Mapeamos os pinos físicos para nomes fáceis de lembrar.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5192280" y="1947960"/>
            <a:ext cx="568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&gt;</a:t>
            </a:r>
            <a:endParaRPr b="0" lang="pt-B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5334840" y="1990800"/>
            <a:ext cx="982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Serial.begin: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5"/>
          <p:cNvSpPr/>
          <p:nvPr/>
        </p:nvSpPr>
        <p:spPr>
          <a:xfrm>
            <a:off x="5370840" y="2170800"/>
            <a:ext cx="29919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Inicializa a comunicação para vermos os dados no computador.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6"/>
          <p:cNvSpPr/>
          <p:nvPr/>
        </p:nvSpPr>
        <p:spPr>
          <a:xfrm>
            <a:off x="5192280" y="2571120"/>
            <a:ext cx="568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&gt;</a:t>
            </a:r>
            <a:endParaRPr b="0" lang="pt-B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5370840" y="2613960"/>
            <a:ext cx="978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analogRead:</a:t>
            </a:r>
            <a:endParaRPr b="1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370840" y="2793960"/>
            <a:ext cx="31204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4d4d4"/>
                </a:solidFill>
                <a:effectLst/>
                <a:uFillTx/>
                <a:latin typeface="Calibri"/>
              </a:rPr>
              <a:t>Converte a tensão do sensor em um valor digital (0 a 1023).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9"/>
          <p:cNvSpPr/>
          <p:nvPr/>
        </p:nvSpPr>
        <p:spPr>
          <a:xfrm>
            <a:off x="5192280" y="3158280"/>
            <a:ext cx="568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&gt;</a:t>
            </a:r>
            <a:endParaRPr b="0" lang="pt-B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0"/>
          <p:cNvSpPr/>
          <p:nvPr/>
        </p:nvSpPr>
        <p:spPr>
          <a:xfrm>
            <a:off x="5370840" y="3220200"/>
            <a:ext cx="4464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Blink: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5423040" y="3420000"/>
            <a:ext cx="30009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 LED pisca em intervalos de 500ms enquanto o sensor é lido.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52"/>
          <p:cNvSpPr/>
          <p:nvPr/>
        </p:nvSpPr>
        <p:spPr>
          <a:xfrm>
            <a:off x="5192280" y="3870000"/>
            <a:ext cx="3344400" cy="808560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3"/>
          <p:cNvSpPr/>
          <p:nvPr/>
        </p:nvSpPr>
        <p:spPr>
          <a:xfrm>
            <a:off x="5299200" y="3991680"/>
            <a:ext cx="142560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a9955"/>
                </a:solidFill>
                <a:effectLst/>
                <a:uFillTx/>
                <a:latin typeface="Calibri"/>
              </a:rPr>
              <a:t>// Saída do Monitor Serial: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4"/>
          <p:cNvSpPr/>
          <p:nvPr/>
        </p:nvSpPr>
        <p:spPr>
          <a:xfrm>
            <a:off x="5299200" y="4107600"/>
            <a:ext cx="31298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452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5299200" y="4223880"/>
            <a:ext cx="31298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458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5299200" y="4339800"/>
            <a:ext cx="31298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461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7"/>
          <p:cNvSpPr/>
          <p:nvPr/>
        </p:nvSpPr>
        <p:spPr>
          <a:xfrm>
            <a:off x="5299200" y="4456080"/>
            <a:ext cx="31298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4ec9b0"/>
                </a:solidFill>
                <a:effectLst/>
                <a:uFillTx/>
                <a:latin typeface="Calibri"/>
              </a:rPr>
              <a:t>_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2026-02-20T20:43:30Z</dcterms:created>
  <dc:creator>PptxGenJS</dc:creator>
  <dc:description/>
  <dc:language>pt-BR</dc:language>
  <cp:lastModifiedBy/>
  <dcterms:modified xsi:type="dcterms:W3CDTF">2026-02-22T17:49:33Z</dcterms:modified>
  <cp:revision>8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